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62" r:id="rId3"/>
    <p:sldId id="257" r:id="rId4"/>
    <p:sldId id="258" r:id="rId5"/>
    <p:sldId id="264" r:id="rId6"/>
    <p:sldId id="361" r:id="rId7"/>
    <p:sldId id="265" r:id="rId8"/>
    <p:sldId id="359" r:id="rId9"/>
    <p:sldId id="362" r:id="rId10"/>
    <p:sldId id="259" r:id="rId11"/>
    <p:sldId id="360" r:id="rId12"/>
    <p:sldId id="363" r:id="rId13"/>
    <p:sldId id="26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2" dt="2026-10-16T05:54:56.7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121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lang="en-US" sz="1400" b="1">
                <a:solidFill>
                  <a:srgbClr val="0E2841"/>
                </a:solidFill>
              </a:rPr>
              <a:t>Pima Indians class split</a:t>
            </a:r>
          </a:p>
        </c:rich>
      </c:tx>
      <c:overlay val="0"/>
    </c:title>
    <c:autoTitleDeleted val="0"/>
    <c:plotArea>
      <c:layout/>
      <c:doughnutChart>
        <c:varyColors val="1"/>
        <c:ser>
          <c:idx val="0"/>
          <c:order val="0"/>
          <c:tx>
            <c:strRef>
              <c:f>Sheet1!$B$1</c:f>
              <c:strCache>
                <c:ptCount val="1"/>
                <c:pt idx="0">
                  <c:v>Pima Indians</c:v>
                </c:pt>
              </c:strCache>
            </c:strRef>
          </c:tx>
          <c:dPt>
            <c:idx val="0"/>
            <c:bubble3D val="0"/>
            <c:spPr>
              <a:solidFill>
                <a:srgbClr val="C8511A"/>
              </a:solidFill>
            </c:spPr>
            <c:extLst>
              <c:ext xmlns:c16="http://schemas.microsoft.com/office/drawing/2014/chart" uri="{C3380CC4-5D6E-409C-BE32-E72D297353CC}">
                <c16:uniqueId val="{00000001-3D55-40CD-9344-58752015C451}"/>
              </c:ext>
            </c:extLst>
          </c:dPt>
          <c:dPt>
            <c:idx val="1"/>
            <c:bubble3D val="0"/>
            <c:spPr>
              <a:solidFill>
                <a:srgbClr val="156082"/>
              </a:solidFill>
            </c:spPr>
            <c:extLst>
              <c:ext xmlns:c16="http://schemas.microsoft.com/office/drawing/2014/chart" uri="{C3380CC4-5D6E-409C-BE32-E72D297353CC}">
                <c16:uniqueId val="{00000003-3D55-40CD-9344-58752015C451}"/>
              </c:ext>
            </c:extLst>
          </c:dPt>
          <c:dLbls>
            <c:numFmt formatCode="0%" sourceLinked="0"/>
            <c:spPr>
              <a:noFill/>
              <a:ln>
                <a:noFill/>
              </a:ln>
              <a:effectLst/>
            </c:spPr>
            <c:txPr>
              <a:bodyPr/>
              <a:lstStyle/>
              <a:p>
                <a:pPr>
                  <a:defRPr sz="1400" b="1">
                    <a:solidFill>
                      <a:srgbClr val="FFFFFF"/>
                    </a:solidFill>
                  </a:defRPr>
                </a:pPr>
                <a:endParaRPr lang="en-US"/>
              </a:p>
            </c:txPr>
            <c:showLegendKey val="0"/>
            <c:showVal val="0"/>
            <c:showCatName val="0"/>
            <c:showSerName val="0"/>
            <c:showPercent val="1"/>
            <c:showBubbleSize val="0"/>
            <c:showLeaderLines val="1"/>
            <c:extLst>
              <c:ext xmlns:c15="http://schemas.microsoft.com/office/drawing/2012/chart" uri="{CE6537A1-D6FC-4f65-9D91-7224C49458BB}"/>
            </c:extLst>
          </c:dLbls>
          <c:cat>
            <c:strRef>
              <c:f>Sheet1!$A$2:$A$3</c:f>
              <c:strCache>
                <c:ptCount val="2"/>
                <c:pt idx="0">
                  <c:v>Diabetic</c:v>
                </c:pt>
                <c:pt idx="1">
                  <c:v>Non-diabetic</c:v>
                </c:pt>
              </c:strCache>
            </c:strRef>
          </c:cat>
          <c:val>
            <c:numRef>
              <c:f>Sheet1!$B$2:$B$3</c:f>
              <c:numCache>
                <c:formatCode>General</c:formatCode>
                <c:ptCount val="2"/>
                <c:pt idx="0">
                  <c:v>268</c:v>
                </c:pt>
                <c:pt idx="1">
                  <c:v>500</c:v>
                </c:pt>
              </c:numCache>
            </c:numRef>
          </c:val>
          <c:extLst>
            <c:ext xmlns:c16="http://schemas.microsoft.com/office/drawing/2014/chart" uri="{C3380CC4-5D6E-409C-BE32-E72D297353CC}">
              <c16:uniqueId val="{00000004-3D55-40CD-9344-58752015C451}"/>
            </c:ext>
          </c:extLst>
        </c:ser>
        <c:dLbls>
          <c:showLegendKey val="0"/>
          <c:showVal val="0"/>
          <c:showCatName val="0"/>
          <c:showSerName val="0"/>
          <c:showPercent val="1"/>
          <c:showBubbleSize val="0"/>
          <c:showLeaderLines val="1"/>
        </c:dLbls>
        <c:firstSliceAng val="0"/>
        <c:holeSize val="50"/>
      </c:doughnutChart>
    </c:plotArea>
    <c:legend>
      <c:legendPos val="r"/>
      <c:overlay val="0"/>
      <c:txPr>
        <a:bodyPr/>
        <a:lstStyle/>
        <a:p>
          <a:pPr>
            <a:defRPr sz="1400" b="0">
              <a:solidFill>
                <a:srgbClr val="1F2A37"/>
              </a:solidFil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0E2841"/>
                </a:solidFill>
              </a:rPr>
              <a:t>Accuracy (%) of 10 classifiers with SMOTE, combined dataset</a:t>
            </a:r>
          </a:p>
        </c:rich>
      </c:tx>
      <c:overlay val="0"/>
    </c:title>
    <c:autoTitleDeleted val="0"/>
    <c:plotArea>
      <c:layout/>
      <c:barChart>
        <c:barDir val="bar"/>
        <c:grouping val="clustered"/>
        <c:varyColors val="0"/>
        <c:ser>
          <c:idx val="0"/>
          <c:order val="0"/>
          <c:tx>
            <c:strRef>
              <c:f>Sheet1!$B$1</c:f>
              <c:strCache>
                <c:ptCount val="1"/>
                <c:pt idx="0">
                  <c:v>Accuracy (%)</c:v>
                </c:pt>
              </c:strCache>
            </c:strRef>
          </c:tx>
          <c:spPr>
            <a:solidFill>
              <a:srgbClr val="156082"/>
            </a:solidFill>
          </c:spPr>
          <c:invertIfNegative val="1"/>
          <c:dPt>
            <c:idx val="0"/>
            <c:invertIfNegative val="1"/>
            <c:bubble3D val="0"/>
            <c:spPr>
              <a:solidFill>
                <a:srgbClr val="E97132"/>
              </a:solidFill>
            </c:spPr>
            <c:extLst>
              <c:ext xmlns:c16="http://schemas.microsoft.com/office/drawing/2014/chart" uri="{C3380CC4-5D6E-409C-BE32-E72D297353CC}">
                <c16:uniqueId val="{00000001-5D11-4C85-AE93-AF8B904EFB38}"/>
              </c:ext>
            </c:extLst>
          </c:dPt>
          <c:dLbls>
            <c:numFmt formatCode="0.0" sourceLinked="0"/>
            <c:spPr>
              <a:noFill/>
              <a:ln>
                <a:noFill/>
              </a:ln>
              <a:effectLst/>
            </c:spPr>
            <c:txPr>
              <a:bodyPr/>
              <a:lstStyle/>
              <a:p>
                <a:pPr>
                  <a:defRPr sz="1200" b="1">
                    <a:solidFill>
                      <a:srgbClr val="0E284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XGBoost</c:v>
                </c:pt>
                <c:pt idx="1">
                  <c:v>Naive Bayes</c:v>
                </c:pt>
                <c:pt idx="2">
                  <c:v>Logistic Regression</c:v>
                </c:pt>
                <c:pt idx="3">
                  <c:v>SVM</c:v>
                </c:pt>
                <c:pt idx="4">
                  <c:v>Random Forest</c:v>
                </c:pt>
                <c:pt idx="5">
                  <c:v>Bagging</c:v>
                </c:pt>
                <c:pt idx="6">
                  <c:v>Voting</c:v>
                </c:pt>
                <c:pt idx="7">
                  <c:v>AdaBoost</c:v>
                </c:pt>
                <c:pt idx="8">
                  <c:v>Decision Tree</c:v>
                </c:pt>
                <c:pt idx="9">
                  <c:v>KNN</c:v>
                </c:pt>
              </c:strCache>
            </c:strRef>
          </c:cat>
          <c:val>
            <c:numRef>
              <c:f>Sheet1!$B$2:$B$11</c:f>
              <c:numCache>
                <c:formatCode>General</c:formatCode>
                <c:ptCount val="10"/>
                <c:pt idx="0">
                  <c:v>83.1</c:v>
                </c:pt>
                <c:pt idx="1">
                  <c:v>81.2</c:v>
                </c:pt>
                <c:pt idx="2">
                  <c:v>77</c:v>
                </c:pt>
                <c:pt idx="3">
                  <c:v>77</c:v>
                </c:pt>
                <c:pt idx="4">
                  <c:v>75</c:v>
                </c:pt>
                <c:pt idx="5">
                  <c:v>75</c:v>
                </c:pt>
                <c:pt idx="6">
                  <c:v>75</c:v>
                </c:pt>
                <c:pt idx="7">
                  <c:v>73</c:v>
                </c:pt>
                <c:pt idx="8">
                  <c:v>72</c:v>
                </c:pt>
                <c:pt idx="9">
                  <c:v>64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5D11-4C85-AE93-AF8B904EFB38}"/>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nextTo"/>
        <c:spPr>
          <a:ln>
            <a:noFill/>
          </a:ln>
        </c:spPr>
        <c:txPr>
          <a:bodyPr/>
          <a:lstStyle/>
          <a:p>
            <a:pPr>
              <a:defRPr sz="1200" b="0">
                <a:solidFill>
                  <a:srgbClr val="1F2A37"/>
                </a:solidFill>
              </a:defRPr>
            </a:pPr>
            <a:endParaRPr lang="en-US"/>
          </a:p>
        </c:txPr>
        <c:crossAx val="-2113994440"/>
        <c:crosses val="autoZero"/>
        <c:auto val="1"/>
        <c:lblAlgn val="ctr"/>
        <c:lblOffset val="100"/>
        <c:noMultiLvlLbl val="0"/>
      </c:catAx>
      <c:valAx>
        <c:axId val="-2113994440"/>
        <c:scaling>
          <c:orientation val="minMax"/>
          <c:max val="100"/>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599D71-F14D-40E3-8D9A-4F950959D84B}" type="datetimeFigureOut">
              <a:rPr lang="en-IN" smtClean="0"/>
              <a:t>16-10-2026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170EDC-CB16-4ADB-A995-AB3BA79CFBCC}" type="slidenum">
              <a:rPr lang="en-IN" smtClean="0"/>
              <a:t>‹#›</a:t>
            </a:fld>
            <a:endParaRPr lang="en-IN"/>
          </a:p>
        </p:txBody>
      </p:sp>
    </p:spTree>
    <p:extLst>
      <p:ext uri="{BB962C8B-B14F-4D97-AF65-F5344CB8AC3E}">
        <p14:creationId xmlns:p14="http://schemas.microsoft.com/office/powerpoint/2010/main" val="2952131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DF82D8B-A3EF-B6F7-E72D-97214487921A}"/>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9978757" y="98073"/>
            <a:ext cx="2213243" cy="898936"/>
          </a:xfrm>
          <a:prstGeom prst="rect">
            <a:avLst/>
          </a:prstGeom>
        </p:spPr>
      </p:pic>
      <p:pic>
        <p:nvPicPr>
          <p:cNvPr id="8" name="Picture 7">
            <a:extLst>
              <a:ext uri="{FF2B5EF4-FFF2-40B4-BE49-F238E27FC236}">
                <a16:creationId xmlns:a16="http://schemas.microsoft.com/office/drawing/2014/main" id="{FBF70F40-2ADA-38A8-8EFA-624454F6F9F5}"/>
              </a:ext>
            </a:extLst>
          </p:cNvPr>
          <p:cNvPicPr>
            <a:picLocks noChangeAspect="1"/>
          </p:cNvPicPr>
          <p:nvPr/>
        </p:nvPicPr>
        <p:blipFill>
          <a:blip r:embed="rId3" cstate="email">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val="0"/>
              </a:ext>
            </a:extLst>
          </a:blip>
          <a:stretch>
            <a:fillRect/>
          </a:stretch>
        </p:blipFill>
        <p:spPr>
          <a:xfrm>
            <a:off x="0" y="4143682"/>
            <a:ext cx="12192000" cy="1739350"/>
          </a:xfrm>
          <a:prstGeom prst="rect">
            <a:avLst/>
          </a:prstGeom>
        </p:spPr>
      </p:pic>
      <p:sp>
        <p:nvSpPr>
          <p:cNvPr id="10" name="Title 9">
            <a:extLst>
              <a:ext uri="{FF2B5EF4-FFF2-40B4-BE49-F238E27FC236}">
                <a16:creationId xmlns:a16="http://schemas.microsoft.com/office/drawing/2014/main" id="{13B65C2B-0423-3C4F-E10A-B5AB8EDECE76}"/>
              </a:ext>
            </a:extLst>
          </p:cNvPr>
          <p:cNvSpPr>
            <a:spLocks noGrp="1"/>
          </p:cNvSpPr>
          <p:nvPr>
            <p:ph type="title" hasCustomPrompt="1"/>
          </p:nvPr>
        </p:nvSpPr>
        <p:spPr>
          <a:xfrm>
            <a:off x="419099" y="1855177"/>
            <a:ext cx="7934325" cy="1021373"/>
          </a:xfrm>
        </p:spPr>
        <p:txBody>
          <a:bodyPr/>
          <a:lstStyle>
            <a:lvl1pPr>
              <a:defRPr lang="en-IN" sz="4400" b="1" kern="1200" dirty="0">
                <a:solidFill>
                  <a:srgbClr val="87110E"/>
                </a:solidFill>
                <a:latin typeface="Arial" panose="020B0604020202020204" pitchFamily="34" charset="0"/>
                <a:ea typeface="+mn-ea"/>
                <a:cs typeface="Arial" panose="020B0604020202020204" pitchFamily="34" charset="0"/>
              </a:defRPr>
            </a:lvl1pPr>
          </a:lstStyle>
          <a:p>
            <a:r>
              <a:rPr lang="en-US"/>
              <a:t>Click to edit title</a:t>
            </a:r>
            <a:endParaRPr lang="en-IN"/>
          </a:p>
        </p:txBody>
      </p:sp>
    </p:spTree>
    <p:extLst>
      <p:ext uri="{BB962C8B-B14F-4D97-AF65-F5344CB8AC3E}">
        <p14:creationId xmlns:p14="http://schemas.microsoft.com/office/powerpoint/2010/main" val="36657698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1">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96B8FF7-707D-0799-483E-79696035BAD0}"/>
              </a:ext>
            </a:extLst>
          </p:cNvPr>
          <p:cNvSpPr>
            <a:spLocks noGrp="1"/>
          </p:cNvSpPr>
          <p:nvPr>
            <p:ph type="dt" sz="half" idx="10"/>
          </p:nvPr>
        </p:nvSpPr>
        <p:spPr/>
        <p:txBody>
          <a:bodyPr/>
          <a:lstStyle/>
          <a:p>
            <a:fld id="{2C1BA0C2-B3D8-4A62-8FA8-D1728089C132}" type="datetimeFigureOut">
              <a:rPr lang="en-IN" smtClean="0"/>
              <a:t>16-10-2026</a:t>
            </a:fld>
            <a:endParaRPr lang="en-IN"/>
          </a:p>
        </p:txBody>
      </p:sp>
      <p:sp>
        <p:nvSpPr>
          <p:cNvPr id="5" name="Footer Placeholder 4">
            <a:extLst>
              <a:ext uri="{FF2B5EF4-FFF2-40B4-BE49-F238E27FC236}">
                <a16:creationId xmlns:a16="http://schemas.microsoft.com/office/drawing/2014/main" id="{0AE5F6D5-EE9E-CB7C-B50A-BB20CE93C5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071512-0323-523E-3406-BE28CC5D1D2E}"/>
              </a:ext>
            </a:extLst>
          </p:cNvPr>
          <p:cNvSpPr>
            <a:spLocks noGrp="1"/>
          </p:cNvSpPr>
          <p:nvPr>
            <p:ph type="sldNum" sz="quarter" idx="12"/>
          </p:nvPr>
        </p:nvSpPr>
        <p:spPr/>
        <p:txBody>
          <a:bodyPr/>
          <a:lstStyle/>
          <a:p>
            <a:fld id="{387B1C38-4CC7-46CC-ACA0-4F92971ED77B}" type="slidenum">
              <a:rPr lang="en-IN" smtClean="0"/>
              <a:t>‹#›</a:t>
            </a:fld>
            <a:endParaRPr lang="en-IN"/>
          </a:p>
        </p:txBody>
      </p:sp>
      <p:cxnSp>
        <p:nvCxnSpPr>
          <p:cNvPr id="9" name="Straight Connector 8">
            <a:extLst>
              <a:ext uri="{FF2B5EF4-FFF2-40B4-BE49-F238E27FC236}">
                <a16:creationId xmlns:a16="http://schemas.microsoft.com/office/drawing/2014/main" id="{AD57BE80-54B6-E2DC-B64A-1B5E8FECC1A9}"/>
              </a:ext>
            </a:extLst>
          </p:cNvPr>
          <p:cNvCxnSpPr>
            <a:cxnSpLocks/>
          </p:cNvCxnSpPr>
          <p:nvPr/>
        </p:nvCxnSpPr>
        <p:spPr>
          <a:xfrm>
            <a:off x="438390" y="1072113"/>
            <a:ext cx="4155144" cy="0"/>
          </a:xfrm>
          <a:prstGeom prst="line">
            <a:avLst/>
          </a:prstGeom>
          <a:ln w="47625">
            <a:solidFill>
              <a:srgbClr val="FF7F14"/>
            </a:solidFill>
          </a:ln>
        </p:spPr>
        <p:style>
          <a:lnRef idx="1">
            <a:schemeClr val="accent1"/>
          </a:lnRef>
          <a:fillRef idx="0">
            <a:schemeClr val="accent1"/>
          </a:fillRef>
          <a:effectRef idx="0">
            <a:schemeClr val="accent1"/>
          </a:effectRef>
          <a:fontRef idx="minor">
            <a:schemeClr val="tx1"/>
          </a:fontRef>
        </p:style>
      </p:cxnSp>
      <p:sp>
        <p:nvSpPr>
          <p:cNvPr id="10" name="Title 9">
            <a:extLst>
              <a:ext uri="{FF2B5EF4-FFF2-40B4-BE49-F238E27FC236}">
                <a16:creationId xmlns:a16="http://schemas.microsoft.com/office/drawing/2014/main" id="{B9B3228D-312A-09D6-3B39-F45449A3B99D}"/>
              </a:ext>
            </a:extLst>
          </p:cNvPr>
          <p:cNvSpPr>
            <a:spLocks noGrp="1"/>
          </p:cNvSpPr>
          <p:nvPr>
            <p:ph type="title"/>
          </p:nvPr>
        </p:nvSpPr>
        <p:spPr>
          <a:xfrm>
            <a:off x="438390" y="365125"/>
            <a:ext cx="10515600" cy="558800"/>
          </a:xfrm>
        </p:spPr>
        <p:txBody>
          <a:bodyPr>
            <a:normAutofit/>
          </a:bodyPr>
          <a:lstStyle>
            <a:lvl1pPr>
              <a:defRPr lang="en-IN" sz="2800" kern="1200" dirty="0">
                <a:solidFill>
                  <a:schemeClr val="tx1"/>
                </a:solidFill>
                <a:latin typeface="Arial" panose="020B0604020202020204" pitchFamily="34" charset="0"/>
                <a:ea typeface="+mn-ea"/>
                <a:cs typeface="Arial" panose="020B0604020202020204" pitchFamily="34" charset="0"/>
              </a:defRPr>
            </a:lvl1pPr>
          </a:lstStyle>
          <a:p>
            <a:r>
              <a:rPr lang="en-US"/>
              <a:t>Click to edit Master title style</a:t>
            </a:r>
            <a:endParaRPr lang="en-IN"/>
          </a:p>
        </p:txBody>
      </p:sp>
      <p:sp>
        <p:nvSpPr>
          <p:cNvPr id="12" name="Content Placeholder 11">
            <a:extLst>
              <a:ext uri="{FF2B5EF4-FFF2-40B4-BE49-F238E27FC236}">
                <a16:creationId xmlns:a16="http://schemas.microsoft.com/office/drawing/2014/main" id="{A8D41141-F136-C0B6-09C1-C201296E9AE7}"/>
              </a:ext>
            </a:extLst>
          </p:cNvPr>
          <p:cNvSpPr>
            <a:spLocks noGrp="1"/>
          </p:cNvSpPr>
          <p:nvPr>
            <p:ph sz="quarter" idx="13"/>
          </p:nvPr>
        </p:nvSpPr>
        <p:spPr>
          <a:xfrm>
            <a:off x="438150" y="1276350"/>
            <a:ext cx="11449050" cy="4800600"/>
          </a:xfrm>
        </p:spPr>
        <p:txBody>
          <a:bodyPr>
            <a:normAutofit/>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13" name="Picture 12">
            <a:extLst>
              <a:ext uri="{FF2B5EF4-FFF2-40B4-BE49-F238E27FC236}">
                <a16:creationId xmlns:a16="http://schemas.microsoft.com/office/drawing/2014/main" id="{C8243AB5-9C60-8DD4-9EB1-E1E97BE57B7C}"/>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rot="5400000">
            <a:off x="-225072" y="5848974"/>
            <a:ext cx="1234098" cy="783954"/>
          </a:xfrm>
          <a:prstGeom prst="rect">
            <a:avLst/>
          </a:prstGeom>
        </p:spPr>
      </p:pic>
    </p:spTree>
    <p:extLst>
      <p:ext uri="{BB962C8B-B14F-4D97-AF65-F5344CB8AC3E}">
        <p14:creationId xmlns:p14="http://schemas.microsoft.com/office/powerpoint/2010/main" val="2439188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96B8FF7-707D-0799-483E-79696035BAD0}"/>
              </a:ext>
            </a:extLst>
          </p:cNvPr>
          <p:cNvSpPr>
            <a:spLocks noGrp="1"/>
          </p:cNvSpPr>
          <p:nvPr>
            <p:ph type="dt" sz="half" idx="10"/>
          </p:nvPr>
        </p:nvSpPr>
        <p:spPr/>
        <p:txBody>
          <a:bodyPr/>
          <a:lstStyle/>
          <a:p>
            <a:fld id="{2C1BA0C2-B3D8-4A62-8FA8-D1728089C132}" type="datetimeFigureOut">
              <a:rPr lang="en-IN" smtClean="0"/>
              <a:t>16-10-2026</a:t>
            </a:fld>
            <a:endParaRPr lang="en-IN"/>
          </a:p>
        </p:txBody>
      </p:sp>
      <p:sp>
        <p:nvSpPr>
          <p:cNvPr id="5" name="Footer Placeholder 4">
            <a:extLst>
              <a:ext uri="{FF2B5EF4-FFF2-40B4-BE49-F238E27FC236}">
                <a16:creationId xmlns:a16="http://schemas.microsoft.com/office/drawing/2014/main" id="{0AE5F6D5-EE9E-CB7C-B50A-BB20CE93C5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071512-0323-523E-3406-BE28CC5D1D2E}"/>
              </a:ext>
            </a:extLst>
          </p:cNvPr>
          <p:cNvSpPr>
            <a:spLocks noGrp="1"/>
          </p:cNvSpPr>
          <p:nvPr>
            <p:ph type="sldNum" sz="quarter" idx="12"/>
          </p:nvPr>
        </p:nvSpPr>
        <p:spPr/>
        <p:txBody>
          <a:bodyPr/>
          <a:lstStyle/>
          <a:p>
            <a:fld id="{387B1C38-4CC7-46CC-ACA0-4F92971ED77B}" type="slidenum">
              <a:rPr lang="en-IN" smtClean="0"/>
              <a:t>‹#›</a:t>
            </a:fld>
            <a:endParaRPr lang="en-IN"/>
          </a:p>
        </p:txBody>
      </p:sp>
      <p:cxnSp>
        <p:nvCxnSpPr>
          <p:cNvPr id="9" name="Straight Connector 8">
            <a:extLst>
              <a:ext uri="{FF2B5EF4-FFF2-40B4-BE49-F238E27FC236}">
                <a16:creationId xmlns:a16="http://schemas.microsoft.com/office/drawing/2014/main" id="{AD57BE80-54B6-E2DC-B64A-1B5E8FECC1A9}"/>
              </a:ext>
            </a:extLst>
          </p:cNvPr>
          <p:cNvCxnSpPr>
            <a:cxnSpLocks/>
          </p:cNvCxnSpPr>
          <p:nvPr/>
        </p:nvCxnSpPr>
        <p:spPr>
          <a:xfrm>
            <a:off x="438390" y="1072113"/>
            <a:ext cx="4155144" cy="0"/>
          </a:xfrm>
          <a:prstGeom prst="line">
            <a:avLst/>
          </a:prstGeom>
          <a:ln w="47625">
            <a:solidFill>
              <a:srgbClr val="FF7F14"/>
            </a:solidFill>
          </a:ln>
        </p:spPr>
        <p:style>
          <a:lnRef idx="1">
            <a:schemeClr val="accent1"/>
          </a:lnRef>
          <a:fillRef idx="0">
            <a:schemeClr val="accent1"/>
          </a:fillRef>
          <a:effectRef idx="0">
            <a:schemeClr val="accent1"/>
          </a:effectRef>
          <a:fontRef idx="minor">
            <a:schemeClr val="tx1"/>
          </a:fontRef>
        </p:style>
      </p:cxnSp>
      <p:sp>
        <p:nvSpPr>
          <p:cNvPr id="10" name="Title 9">
            <a:extLst>
              <a:ext uri="{FF2B5EF4-FFF2-40B4-BE49-F238E27FC236}">
                <a16:creationId xmlns:a16="http://schemas.microsoft.com/office/drawing/2014/main" id="{B9B3228D-312A-09D6-3B39-F45449A3B99D}"/>
              </a:ext>
            </a:extLst>
          </p:cNvPr>
          <p:cNvSpPr>
            <a:spLocks noGrp="1"/>
          </p:cNvSpPr>
          <p:nvPr>
            <p:ph type="title"/>
          </p:nvPr>
        </p:nvSpPr>
        <p:spPr>
          <a:xfrm>
            <a:off x="438390" y="365125"/>
            <a:ext cx="10515600" cy="558800"/>
          </a:xfrm>
        </p:spPr>
        <p:txBody>
          <a:bodyPr>
            <a:normAutofit/>
          </a:bodyPr>
          <a:lstStyle>
            <a:lvl1pPr>
              <a:defRPr lang="en-IN" sz="2800" kern="1200" dirty="0">
                <a:solidFill>
                  <a:schemeClr val="tx1"/>
                </a:solidFill>
                <a:latin typeface="Arial" panose="020B0604020202020204" pitchFamily="34" charset="0"/>
                <a:ea typeface="+mn-ea"/>
                <a:cs typeface="Arial" panose="020B0604020202020204" pitchFamily="34" charset="0"/>
              </a:defRPr>
            </a:lvl1pPr>
          </a:lstStyle>
          <a:p>
            <a:r>
              <a:rPr lang="en-US"/>
              <a:t>Click to edit Master title style</a:t>
            </a:r>
            <a:endParaRPr lang="en-IN"/>
          </a:p>
        </p:txBody>
      </p:sp>
      <p:sp>
        <p:nvSpPr>
          <p:cNvPr id="12" name="Content Placeholder 11">
            <a:extLst>
              <a:ext uri="{FF2B5EF4-FFF2-40B4-BE49-F238E27FC236}">
                <a16:creationId xmlns:a16="http://schemas.microsoft.com/office/drawing/2014/main" id="{A8D41141-F136-C0B6-09C1-C201296E9AE7}"/>
              </a:ext>
            </a:extLst>
          </p:cNvPr>
          <p:cNvSpPr>
            <a:spLocks noGrp="1"/>
          </p:cNvSpPr>
          <p:nvPr>
            <p:ph sz="quarter" idx="13"/>
          </p:nvPr>
        </p:nvSpPr>
        <p:spPr>
          <a:xfrm>
            <a:off x="438150" y="1276350"/>
            <a:ext cx="11449050" cy="4800600"/>
          </a:xfrm>
        </p:spPr>
        <p:txBody>
          <a:bodyPr>
            <a:normAutofit/>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2" name="Picture 1">
            <a:extLst>
              <a:ext uri="{FF2B5EF4-FFF2-40B4-BE49-F238E27FC236}">
                <a16:creationId xmlns:a16="http://schemas.microsoft.com/office/drawing/2014/main" id="{5029E40D-98D8-A006-C8EC-D8041502ED9C}"/>
              </a:ext>
            </a:extLst>
          </p:cNvPr>
          <p:cNvPicPr>
            <a:picLocks noChangeAspect="1"/>
          </p:cNvPicPr>
          <p:nvPr/>
        </p:nvPicPr>
        <p:blipFill>
          <a:blip r:embed="rId2"/>
          <a:stretch>
            <a:fillRect/>
          </a:stretch>
        </p:blipFill>
        <p:spPr>
          <a:xfrm>
            <a:off x="10640305" y="5696830"/>
            <a:ext cx="3459486" cy="1688595"/>
          </a:xfrm>
          <a:prstGeom prst="rect">
            <a:avLst/>
          </a:prstGeom>
          <a:noFill/>
          <a:ln cap="flat">
            <a:noFill/>
          </a:ln>
        </p:spPr>
      </p:pic>
    </p:spTree>
    <p:extLst>
      <p:ext uri="{BB962C8B-B14F-4D97-AF65-F5344CB8AC3E}">
        <p14:creationId xmlns:p14="http://schemas.microsoft.com/office/powerpoint/2010/main" val="1165492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mparison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96B8FF7-707D-0799-483E-79696035BAD0}"/>
              </a:ext>
            </a:extLst>
          </p:cNvPr>
          <p:cNvSpPr>
            <a:spLocks noGrp="1"/>
          </p:cNvSpPr>
          <p:nvPr>
            <p:ph type="dt" sz="half" idx="10"/>
          </p:nvPr>
        </p:nvSpPr>
        <p:spPr/>
        <p:txBody>
          <a:bodyPr/>
          <a:lstStyle/>
          <a:p>
            <a:fld id="{2C1BA0C2-B3D8-4A62-8FA8-D1728089C132}" type="datetimeFigureOut">
              <a:rPr lang="en-IN" smtClean="0"/>
              <a:t>16-10-2026</a:t>
            </a:fld>
            <a:endParaRPr lang="en-IN"/>
          </a:p>
        </p:txBody>
      </p:sp>
      <p:sp>
        <p:nvSpPr>
          <p:cNvPr id="5" name="Footer Placeholder 4">
            <a:extLst>
              <a:ext uri="{FF2B5EF4-FFF2-40B4-BE49-F238E27FC236}">
                <a16:creationId xmlns:a16="http://schemas.microsoft.com/office/drawing/2014/main" id="{0AE5F6D5-EE9E-CB7C-B50A-BB20CE93C5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071512-0323-523E-3406-BE28CC5D1D2E}"/>
              </a:ext>
            </a:extLst>
          </p:cNvPr>
          <p:cNvSpPr>
            <a:spLocks noGrp="1"/>
          </p:cNvSpPr>
          <p:nvPr>
            <p:ph type="sldNum" sz="quarter" idx="12"/>
          </p:nvPr>
        </p:nvSpPr>
        <p:spPr/>
        <p:txBody>
          <a:bodyPr/>
          <a:lstStyle/>
          <a:p>
            <a:fld id="{387B1C38-4CC7-46CC-ACA0-4F92971ED77B}" type="slidenum">
              <a:rPr lang="en-IN" smtClean="0"/>
              <a:t>‹#›</a:t>
            </a:fld>
            <a:endParaRPr lang="en-IN"/>
          </a:p>
        </p:txBody>
      </p:sp>
      <p:cxnSp>
        <p:nvCxnSpPr>
          <p:cNvPr id="9" name="Straight Connector 8">
            <a:extLst>
              <a:ext uri="{FF2B5EF4-FFF2-40B4-BE49-F238E27FC236}">
                <a16:creationId xmlns:a16="http://schemas.microsoft.com/office/drawing/2014/main" id="{AD57BE80-54B6-E2DC-B64A-1B5E8FECC1A9}"/>
              </a:ext>
            </a:extLst>
          </p:cNvPr>
          <p:cNvCxnSpPr>
            <a:cxnSpLocks/>
          </p:cNvCxnSpPr>
          <p:nvPr/>
        </p:nvCxnSpPr>
        <p:spPr>
          <a:xfrm>
            <a:off x="438390" y="1072113"/>
            <a:ext cx="4155144" cy="0"/>
          </a:xfrm>
          <a:prstGeom prst="line">
            <a:avLst/>
          </a:prstGeom>
          <a:ln w="47625">
            <a:solidFill>
              <a:srgbClr val="FF7F14"/>
            </a:solidFill>
          </a:ln>
        </p:spPr>
        <p:style>
          <a:lnRef idx="1">
            <a:schemeClr val="accent1"/>
          </a:lnRef>
          <a:fillRef idx="0">
            <a:schemeClr val="accent1"/>
          </a:fillRef>
          <a:effectRef idx="0">
            <a:schemeClr val="accent1"/>
          </a:effectRef>
          <a:fontRef idx="minor">
            <a:schemeClr val="tx1"/>
          </a:fontRef>
        </p:style>
      </p:cxnSp>
      <p:sp>
        <p:nvSpPr>
          <p:cNvPr id="10" name="Title 9">
            <a:extLst>
              <a:ext uri="{FF2B5EF4-FFF2-40B4-BE49-F238E27FC236}">
                <a16:creationId xmlns:a16="http://schemas.microsoft.com/office/drawing/2014/main" id="{B9B3228D-312A-09D6-3B39-F45449A3B99D}"/>
              </a:ext>
            </a:extLst>
          </p:cNvPr>
          <p:cNvSpPr>
            <a:spLocks noGrp="1"/>
          </p:cNvSpPr>
          <p:nvPr>
            <p:ph type="title"/>
          </p:nvPr>
        </p:nvSpPr>
        <p:spPr>
          <a:xfrm>
            <a:off x="438390" y="365125"/>
            <a:ext cx="10515600" cy="558800"/>
          </a:xfrm>
        </p:spPr>
        <p:txBody>
          <a:bodyPr>
            <a:normAutofit/>
          </a:bodyPr>
          <a:lstStyle>
            <a:lvl1pPr>
              <a:defRPr lang="en-IN" sz="2800" kern="1200" dirty="0">
                <a:solidFill>
                  <a:schemeClr val="tx1"/>
                </a:solidFill>
                <a:latin typeface="Arial" panose="020B0604020202020204" pitchFamily="34" charset="0"/>
                <a:ea typeface="+mn-ea"/>
                <a:cs typeface="Arial" panose="020B0604020202020204" pitchFamily="34" charset="0"/>
              </a:defRPr>
            </a:lvl1pPr>
          </a:lstStyle>
          <a:p>
            <a:r>
              <a:rPr lang="en-US"/>
              <a:t>Click to edit Master title style</a:t>
            </a:r>
            <a:endParaRPr lang="en-IN"/>
          </a:p>
        </p:txBody>
      </p:sp>
      <p:sp>
        <p:nvSpPr>
          <p:cNvPr id="12" name="Content Placeholder 11">
            <a:extLst>
              <a:ext uri="{FF2B5EF4-FFF2-40B4-BE49-F238E27FC236}">
                <a16:creationId xmlns:a16="http://schemas.microsoft.com/office/drawing/2014/main" id="{A8D41141-F136-C0B6-09C1-C201296E9AE7}"/>
              </a:ext>
            </a:extLst>
          </p:cNvPr>
          <p:cNvSpPr>
            <a:spLocks noGrp="1"/>
          </p:cNvSpPr>
          <p:nvPr>
            <p:ph sz="quarter" idx="13"/>
          </p:nvPr>
        </p:nvSpPr>
        <p:spPr>
          <a:xfrm>
            <a:off x="438150" y="1276350"/>
            <a:ext cx="5495925" cy="4800600"/>
          </a:xfrm>
        </p:spPr>
        <p:txBody>
          <a:bodyPr>
            <a:normAutofit/>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pPr lvl="0"/>
            <a:r>
              <a:rPr lang="en-US"/>
              <a:t>Click to edit Master text styles</a:t>
            </a:r>
          </a:p>
        </p:txBody>
      </p:sp>
      <p:pic>
        <p:nvPicPr>
          <p:cNvPr id="2" name="Picture 1">
            <a:extLst>
              <a:ext uri="{FF2B5EF4-FFF2-40B4-BE49-F238E27FC236}">
                <a16:creationId xmlns:a16="http://schemas.microsoft.com/office/drawing/2014/main" id="{5029E40D-98D8-A006-C8EC-D8041502ED9C}"/>
              </a:ext>
            </a:extLst>
          </p:cNvPr>
          <p:cNvPicPr>
            <a:picLocks noChangeAspect="1"/>
          </p:cNvPicPr>
          <p:nvPr/>
        </p:nvPicPr>
        <p:blipFill>
          <a:blip r:embed="rId2"/>
          <a:stretch>
            <a:fillRect/>
          </a:stretch>
        </p:blipFill>
        <p:spPr>
          <a:xfrm>
            <a:off x="10640305" y="5696830"/>
            <a:ext cx="3459486" cy="1688595"/>
          </a:xfrm>
          <a:prstGeom prst="rect">
            <a:avLst/>
          </a:prstGeom>
          <a:noFill/>
          <a:ln cap="flat">
            <a:noFill/>
          </a:ln>
        </p:spPr>
      </p:pic>
      <p:sp>
        <p:nvSpPr>
          <p:cNvPr id="3" name="Content Placeholder 11">
            <a:extLst>
              <a:ext uri="{FF2B5EF4-FFF2-40B4-BE49-F238E27FC236}">
                <a16:creationId xmlns:a16="http://schemas.microsoft.com/office/drawing/2014/main" id="{9FF280B2-F533-7FC2-7417-32DD6CEA8EA1}"/>
              </a:ext>
            </a:extLst>
          </p:cNvPr>
          <p:cNvSpPr>
            <a:spLocks noGrp="1"/>
          </p:cNvSpPr>
          <p:nvPr>
            <p:ph sz="quarter" idx="14"/>
          </p:nvPr>
        </p:nvSpPr>
        <p:spPr>
          <a:xfrm>
            <a:off x="6343650" y="1276350"/>
            <a:ext cx="5495925" cy="4800600"/>
          </a:xfrm>
        </p:spPr>
        <p:txBody>
          <a:bodyPr>
            <a:normAutofit/>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pPr lvl="0"/>
            <a:r>
              <a:rPr lang="en-US"/>
              <a:t>Click to edit Master text styles</a:t>
            </a:r>
          </a:p>
        </p:txBody>
      </p:sp>
    </p:spTree>
    <p:extLst>
      <p:ext uri="{BB962C8B-B14F-4D97-AF65-F5344CB8AC3E}">
        <p14:creationId xmlns:p14="http://schemas.microsoft.com/office/powerpoint/2010/main" val="3322327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hank you">
    <p:bg>
      <p:bgPr>
        <a:solidFill>
          <a:srgbClr val="6D110E"/>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D8666E3-B3F2-8A35-40F7-AC43EDF923F0}"/>
              </a:ext>
            </a:extLst>
          </p:cNvPr>
          <p:cNvSpPr txBox="1"/>
          <p:nvPr/>
        </p:nvSpPr>
        <p:spPr>
          <a:xfrm>
            <a:off x="883715" y="3098443"/>
            <a:ext cx="6506931" cy="707886"/>
          </a:xfrm>
          <a:prstGeom prst="rect">
            <a:avLst/>
          </a:prstGeom>
          <a:noFill/>
        </p:spPr>
        <p:txBody>
          <a:bodyPr wrap="square">
            <a:spAutoFit/>
          </a:bodyPr>
          <a:lstStyle/>
          <a:p>
            <a:r>
              <a:rPr lang="en-US" sz="4000">
                <a:solidFill>
                  <a:srgbClr val="FFFEF6"/>
                </a:solidFill>
                <a:latin typeface="Arial" panose="020B0604020202020204" pitchFamily="34" charset="0"/>
                <a:cs typeface="Arial" panose="020B0604020202020204" pitchFamily="34" charset="0"/>
              </a:rPr>
              <a:t>Thank you  </a:t>
            </a:r>
          </a:p>
        </p:txBody>
      </p:sp>
      <p:cxnSp>
        <p:nvCxnSpPr>
          <p:cNvPr id="7" name="Straight Connector 6">
            <a:extLst>
              <a:ext uri="{FF2B5EF4-FFF2-40B4-BE49-F238E27FC236}">
                <a16:creationId xmlns:a16="http://schemas.microsoft.com/office/drawing/2014/main" id="{45056104-025F-F96B-B313-E7D3BB177192}"/>
              </a:ext>
            </a:extLst>
          </p:cNvPr>
          <p:cNvCxnSpPr>
            <a:cxnSpLocks/>
          </p:cNvCxnSpPr>
          <p:nvPr/>
        </p:nvCxnSpPr>
        <p:spPr>
          <a:xfrm>
            <a:off x="406306" y="3943650"/>
            <a:ext cx="4155144" cy="0"/>
          </a:xfrm>
          <a:prstGeom prst="line">
            <a:avLst/>
          </a:prstGeom>
          <a:ln w="47625">
            <a:solidFill>
              <a:srgbClr val="FF7F14"/>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AAF42519-833E-39EF-1B6E-87C9431A3B9E}"/>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0691781" y="5290890"/>
            <a:ext cx="3459487" cy="1688595"/>
          </a:xfrm>
          <a:prstGeom prst="rect">
            <a:avLst/>
          </a:prstGeom>
        </p:spPr>
      </p:pic>
      <p:sp>
        <p:nvSpPr>
          <p:cNvPr id="9" name="Rectangle 8">
            <a:extLst>
              <a:ext uri="{FF2B5EF4-FFF2-40B4-BE49-F238E27FC236}">
                <a16:creationId xmlns:a16="http://schemas.microsoft.com/office/drawing/2014/main" id="{D539E95F-6E5D-D141-409E-35E77D6E3BAB}"/>
              </a:ext>
            </a:extLst>
          </p:cNvPr>
          <p:cNvSpPr/>
          <p:nvPr/>
        </p:nvSpPr>
        <p:spPr>
          <a:xfrm>
            <a:off x="547221" y="6324018"/>
            <a:ext cx="2125325" cy="369332"/>
          </a:xfrm>
          <a:prstGeom prst="rect">
            <a:avLst/>
          </a:prstGeom>
        </p:spPr>
        <p:txBody>
          <a:bodyPr wrap="none">
            <a:spAutoFit/>
          </a:bodyPr>
          <a:lstStyle/>
          <a:p>
            <a:r>
              <a:rPr lang="en-IN" b="1">
                <a:solidFill>
                  <a:schemeClr val="bg1"/>
                </a:solidFill>
                <a:latin typeface="Arial" panose="020B0604020202020204" pitchFamily="34" charset="0"/>
                <a:cs typeface="Arial" panose="020B0604020202020204" pitchFamily="34" charset="0"/>
              </a:rPr>
              <a:t>www.mitvpu.ac.in</a:t>
            </a:r>
          </a:p>
        </p:txBody>
      </p:sp>
    </p:spTree>
    <p:extLst>
      <p:ext uri="{BB962C8B-B14F-4D97-AF65-F5344CB8AC3E}">
        <p14:creationId xmlns:p14="http://schemas.microsoft.com/office/powerpoint/2010/main" val="1371534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parator">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70F119-D17D-43E9-DFC0-23EADD2A43E3}"/>
              </a:ext>
            </a:extLst>
          </p:cNvPr>
          <p:cNvSpPr>
            <a:spLocks noGrp="1"/>
          </p:cNvSpPr>
          <p:nvPr>
            <p:ph type="dt" sz="half" idx="10"/>
          </p:nvPr>
        </p:nvSpPr>
        <p:spPr/>
        <p:txBody>
          <a:bodyPr/>
          <a:lstStyle/>
          <a:p>
            <a:fld id="{2C1BA0C2-B3D8-4A62-8FA8-D1728089C132}" type="datetimeFigureOut">
              <a:rPr lang="en-IN" smtClean="0"/>
              <a:t>16-10-2026</a:t>
            </a:fld>
            <a:endParaRPr lang="en-IN"/>
          </a:p>
        </p:txBody>
      </p:sp>
      <p:sp>
        <p:nvSpPr>
          <p:cNvPr id="3" name="Footer Placeholder 2">
            <a:extLst>
              <a:ext uri="{FF2B5EF4-FFF2-40B4-BE49-F238E27FC236}">
                <a16:creationId xmlns:a16="http://schemas.microsoft.com/office/drawing/2014/main" id="{AB7AE5D0-8CB3-894F-0796-B96F11F0682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BA15B97-7D27-B3DF-477A-AC27302F0198}"/>
              </a:ext>
            </a:extLst>
          </p:cNvPr>
          <p:cNvSpPr>
            <a:spLocks noGrp="1"/>
          </p:cNvSpPr>
          <p:nvPr>
            <p:ph type="sldNum" sz="quarter" idx="12"/>
          </p:nvPr>
        </p:nvSpPr>
        <p:spPr/>
        <p:txBody>
          <a:bodyPr/>
          <a:lstStyle/>
          <a:p>
            <a:fld id="{387B1C38-4CC7-46CC-ACA0-4F92971ED77B}" type="slidenum">
              <a:rPr lang="en-IN" smtClean="0"/>
              <a:t>‹#›</a:t>
            </a:fld>
            <a:endParaRPr lang="en-IN"/>
          </a:p>
        </p:txBody>
      </p:sp>
      <p:sp>
        <p:nvSpPr>
          <p:cNvPr id="7" name="Title 6">
            <a:extLst>
              <a:ext uri="{FF2B5EF4-FFF2-40B4-BE49-F238E27FC236}">
                <a16:creationId xmlns:a16="http://schemas.microsoft.com/office/drawing/2014/main" id="{670DE89E-ED4C-04CC-8C0F-50CA6DE9CA2B}"/>
              </a:ext>
            </a:extLst>
          </p:cNvPr>
          <p:cNvSpPr>
            <a:spLocks noGrp="1"/>
          </p:cNvSpPr>
          <p:nvPr>
            <p:ph type="title"/>
          </p:nvPr>
        </p:nvSpPr>
        <p:spPr>
          <a:xfrm>
            <a:off x="838200" y="2263373"/>
            <a:ext cx="10515600" cy="1325563"/>
          </a:xfrm>
        </p:spPr>
        <p:txBody>
          <a:bodyPr>
            <a:normAutofit/>
          </a:bodyPr>
          <a:lstStyle>
            <a:lvl1pPr>
              <a:defRPr sz="3600">
                <a:latin typeface="Arial" panose="020B0604020202020204" pitchFamily="34" charset="0"/>
                <a:cs typeface="Arial" panose="020B0604020202020204" pitchFamily="34" charset="0"/>
              </a:defRPr>
            </a:lvl1pPr>
          </a:lstStyle>
          <a:p>
            <a:r>
              <a:rPr lang="en-US"/>
              <a:t>Click to edit Master title style</a:t>
            </a:r>
            <a:endParaRPr lang="en-IN"/>
          </a:p>
        </p:txBody>
      </p:sp>
      <p:pic>
        <p:nvPicPr>
          <p:cNvPr id="8" name="Picture 7">
            <a:extLst>
              <a:ext uri="{FF2B5EF4-FFF2-40B4-BE49-F238E27FC236}">
                <a16:creationId xmlns:a16="http://schemas.microsoft.com/office/drawing/2014/main" id="{95717F47-78D9-27AB-8769-52CA206BE4A5}"/>
              </a:ext>
            </a:extLst>
          </p:cNvPr>
          <p:cNvPicPr>
            <a:picLocks noChangeAspect="1"/>
          </p:cNvPicPr>
          <p:nvPr/>
        </p:nvPicPr>
        <p:blipFill>
          <a:blip r:embed="rId2" cstate="email">
            <a:duotone>
              <a:schemeClr val="accent2">
                <a:shade val="45000"/>
                <a:satMod val="135000"/>
              </a:schemeClr>
              <a:prstClr val="white"/>
            </a:duotone>
            <a:extLst>
              <a:ext uri="{BEBA8EAE-BF5A-486C-A8C5-ECC9F3942E4B}">
                <a14:imgProps xmlns:a14="http://schemas.microsoft.com/office/drawing/2010/main">
                  <a14:imgLayer r:embed="rId3">
                    <a14:imgEffect>
                      <a14:artisticCrisscrossEtching/>
                    </a14:imgEffect>
                  </a14:imgLayer>
                </a14:imgProps>
              </a:ext>
              <a:ext uri="{28A0092B-C50C-407E-A947-70E740481C1C}">
                <a14:useLocalDpi xmlns:a14="http://schemas.microsoft.com/office/drawing/2010/main" val="0"/>
              </a:ext>
            </a:extLst>
          </a:blip>
          <a:stretch>
            <a:fillRect/>
          </a:stretch>
        </p:blipFill>
        <p:spPr>
          <a:xfrm>
            <a:off x="0" y="4143682"/>
            <a:ext cx="12192000" cy="1739350"/>
          </a:xfrm>
          <a:prstGeom prst="rect">
            <a:avLst/>
          </a:prstGeom>
        </p:spPr>
      </p:pic>
    </p:spTree>
    <p:extLst>
      <p:ext uri="{BB962C8B-B14F-4D97-AF65-F5344CB8AC3E}">
        <p14:creationId xmlns:p14="http://schemas.microsoft.com/office/powerpoint/2010/main" val="1128226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A2319-8DEA-84EE-CED6-DF584559E770}"/>
              </a:ext>
            </a:extLst>
          </p:cNvPr>
          <p:cNvSpPr>
            <a:spLocks noGrp="1"/>
          </p:cNvSpPr>
          <p:nvPr>
            <p:ph type="title"/>
          </p:nvPr>
        </p:nvSpPr>
        <p:spPr>
          <a:xfrm>
            <a:off x="839788" y="457200"/>
            <a:ext cx="3932237" cy="1600200"/>
          </a:xfrm>
        </p:spPr>
        <p:txBody>
          <a:bodyPr anchor="b"/>
          <a:lstStyle>
            <a:lvl1pPr>
              <a:defRPr sz="2400">
                <a:latin typeface="Arial" panose="020B0604020202020204" pitchFamily="34" charset="0"/>
                <a:cs typeface="Arial" panose="020B0604020202020204" pitchFamily="34" charset="0"/>
              </a:defRPr>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85BFF30-8396-316C-B154-49D7A950E521}"/>
              </a:ext>
            </a:extLst>
          </p:cNvPr>
          <p:cNvSpPr>
            <a:spLocks noGrp="1"/>
          </p:cNvSpPr>
          <p:nvPr>
            <p:ph idx="1"/>
          </p:nvPr>
        </p:nvSpPr>
        <p:spPr>
          <a:xfrm>
            <a:off x="5183188" y="987425"/>
            <a:ext cx="6172200" cy="4873625"/>
          </a:xfrm>
        </p:spPr>
        <p:txBody>
          <a:bodyPr/>
          <a:lstStyle>
            <a:lvl1pPr>
              <a:defRPr sz="2400">
                <a:latin typeface="Arial" panose="020B0604020202020204" pitchFamily="34" charset="0"/>
                <a:cs typeface="Arial" panose="020B0604020202020204" pitchFamily="34" charset="0"/>
              </a:defRPr>
            </a:lvl1pPr>
            <a:lvl2pPr>
              <a:defRPr sz="2400">
                <a:latin typeface="Arial" panose="020B0604020202020204" pitchFamily="34" charset="0"/>
                <a:cs typeface="Arial" panose="020B0604020202020204" pitchFamily="34" charset="0"/>
              </a:defRPr>
            </a:lvl2pPr>
            <a:lvl3pPr>
              <a:defRPr sz="2400">
                <a:latin typeface="Arial" panose="020B0604020202020204" pitchFamily="34" charset="0"/>
                <a:cs typeface="Arial" panose="020B0604020202020204" pitchFamily="34" charset="0"/>
              </a:defRPr>
            </a:lvl3pPr>
            <a:lvl4pPr>
              <a:defRPr sz="2400">
                <a:latin typeface="Arial" panose="020B0604020202020204" pitchFamily="34" charset="0"/>
                <a:cs typeface="Arial" panose="020B0604020202020204" pitchFamily="34" charset="0"/>
              </a:defRPr>
            </a:lvl4pPr>
            <a:lvl5pPr>
              <a:defRPr sz="24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8BF6E03-9C11-875A-4541-038AE5784D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BAD6CF-D7F7-76B4-3CAC-0275661F2A14}"/>
              </a:ext>
            </a:extLst>
          </p:cNvPr>
          <p:cNvSpPr>
            <a:spLocks noGrp="1"/>
          </p:cNvSpPr>
          <p:nvPr>
            <p:ph type="dt" sz="half" idx="10"/>
          </p:nvPr>
        </p:nvSpPr>
        <p:spPr/>
        <p:txBody>
          <a:bodyPr/>
          <a:lstStyle/>
          <a:p>
            <a:fld id="{2C1BA0C2-B3D8-4A62-8FA8-D1728089C132}" type="datetimeFigureOut">
              <a:rPr lang="en-IN" smtClean="0"/>
              <a:t>16-10-2026</a:t>
            </a:fld>
            <a:endParaRPr lang="en-IN"/>
          </a:p>
        </p:txBody>
      </p:sp>
      <p:sp>
        <p:nvSpPr>
          <p:cNvPr id="6" name="Footer Placeholder 5">
            <a:extLst>
              <a:ext uri="{FF2B5EF4-FFF2-40B4-BE49-F238E27FC236}">
                <a16:creationId xmlns:a16="http://schemas.microsoft.com/office/drawing/2014/main" id="{16A82469-4F86-B635-697D-FC2E89B3B1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AD3A08-EFF3-A98B-2372-9BBED3A448CC}"/>
              </a:ext>
            </a:extLst>
          </p:cNvPr>
          <p:cNvSpPr>
            <a:spLocks noGrp="1"/>
          </p:cNvSpPr>
          <p:nvPr>
            <p:ph type="sldNum" sz="quarter" idx="12"/>
          </p:nvPr>
        </p:nvSpPr>
        <p:spPr/>
        <p:txBody>
          <a:bodyPr/>
          <a:lstStyle/>
          <a:p>
            <a:fld id="{387B1C38-4CC7-46CC-ACA0-4F92971ED77B}" type="slidenum">
              <a:rPr lang="en-IN" smtClean="0"/>
              <a:t>‹#›</a:t>
            </a:fld>
            <a:endParaRPr lang="en-IN"/>
          </a:p>
        </p:txBody>
      </p:sp>
      <p:pic>
        <p:nvPicPr>
          <p:cNvPr id="9" name="Picture 8">
            <a:extLst>
              <a:ext uri="{FF2B5EF4-FFF2-40B4-BE49-F238E27FC236}">
                <a16:creationId xmlns:a16="http://schemas.microsoft.com/office/drawing/2014/main" id="{B442AEE4-1650-A9E9-D798-8C1E0F109447}"/>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0691781" y="5290890"/>
            <a:ext cx="3459487" cy="1688595"/>
          </a:xfrm>
          <a:prstGeom prst="rect">
            <a:avLst/>
          </a:prstGeom>
        </p:spPr>
      </p:pic>
    </p:spTree>
    <p:extLst>
      <p:ext uri="{BB962C8B-B14F-4D97-AF65-F5344CB8AC3E}">
        <p14:creationId xmlns:p14="http://schemas.microsoft.com/office/powerpoint/2010/main" val="3592579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B8E1E-79B4-34EA-D8B6-64FA2F5BAFD5}"/>
              </a:ext>
            </a:extLst>
          </p:cNvPr>
          <p:cNvSpPr>
            <a:spLocks noGrp="1"/>
          </p:cNvSpPr>
          <p:nvPr>
            <p:ph type="title"/>
          </p:nvPr>
        </p:nvSpPr>
        <p:spPr>
          <a:xfrm>
            <a:off x="839788" y="457200"/>
            <a:ext cx="3932237" cy="1600200"/>
          </a:xfrm>
        </p:spPr>
        <p:txBody>
          <a:bodyPr anchor="b">
            <a:normAutofit/>
          </a:bodyPr>
          <a:lstStyle>
            <a:lvl1pPr>
              <a:defRPr sz="2400">
                <a:latin typeface="Arial" panose="020B0604020202020204" pitchFamily="34" charset="0"/>
                <a:cs typeface="Arial" panose="020B0604020202020204" pitchFamily="34" charset="0"/>
              </a:defRPr>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8E1125C-02A5-9D9A-5E02-7C825A972A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77B5F04-B4D7-0D1F-696D-DD9D8FB073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4C8BE7-C02B-1A23-6505-B06F21B7B0FD}"/>
              </a:ext>
            </a:extLst>
          </p:cNvPr>
          <p:cNvSpPr>
            <a:spLocks noGrp="1"/>
          </p:cNvSpPr>
          <p:nvPr>
            <p:ph type="dt" sz="half" idx="10"/>
          </p:nvPr>
        </p:nvSpPr>
        <p:spPr/>
        <p:txBody>
          <a:bodyPr/>
          <a:lstStyle/>
          <a:p>
            <a:fld id="{2C1BA0C2-B3D8-4A62-8FA8-D1728089C132}" type="datetimeFigureOut">
              <a:rPr lang="en-IN" smtClean="0"/>
              <a:t>16-10-2026</a:t>
            </a:fld>
            <a:endParaRPr lang="en-IN"/>
          </a:p>
        </p:txBody>
      </p:sp>
      <p:sp>
        <p:nvSpPr>
          <p:cNvPr id="6" name="Footer Placeholder 5">
            <a:extLst>
              <a:ext uri="{FF2B5EF4-FFF2-40B4-BE49-F238E27FC236}">
                <a16:creationId xmlns:a16="http://schemas.microsoft.com/office/drawing/2014/main" id="{60464B38-C4AC-CA3E-FF24-F94F28FA4F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D0C875-E661-92E9-C01F-EAD483EDE8DB}"/>
              </a:ext>
            </a:extLst>
          </p:cNvPr>
          <p:cNvSpPr>
            <a:spLocks noGrp="1"/>
          </p:cNvSpPr>
          <p:nvPr>
            <p:ph type="sldNum" sz="quarter" idx="12"/>
          </p:nvPr>
        </p:nvSpPr>
        <p:spPr/>
        <p:txBody>
          <a:bodyPr/>
          <a:lstStyle/>
          <a:p>
            <a:fld id="{387B1C38-4CC7-46CC-ACA0-4F92971ED77B}" type="slidenum">
              <a:rPr lang="en-IN" smtClean="0"/>
              <a:t>‹#›</a:t>
            </a:fld>
            <a:endParaRPr lang="en-IN"/>
          </a:p>
        </p:txBody>
      </p:sp>
      <p:pic>
        <p:nvPicPr>
          <p:cNvPr id="9" name="Picture 8">
            <a:extLst>
              <a:ext uri="{FF2B5EF4-FFF2-40B4-BE49-F238E27FC236}">
                <a16:creationId xmlns:a16="http://schemas.microsoft.com/office/drawing/2014/main" id="{AD68745B-7C28-E996-F4A5-91AB26E370B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0691781" y="5290890"/>
            <a:ext cx="3459487" cy="1688595"/>
          </a:xfrm>
          <a:prstGeom prst="rect">
            <a:avLst/>
          </a:prstGeom>
        </p:spPr>
      </p:pic>
    </p:spTree>
    <p:extLst>
      <p:ext uri="{BB962C8B-B14F-4D97-AF65-F5344CB8AC3E}">
        <p14:creationId xmlns:p14="http://schemas.microsoft.com/office/powerpoint/2010/main" val="1217710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E6DC096-FAFC-43F9-4743-8CD30B2EAB5C}"/>
              </a:ext>
            </a:extLst>
          </p:cNvPr>
          <p:cNvSpPr>
            <a:spLocks noGrp="1"/>
          </p:cNvSpPr>
          <p:nvPr>
            <p:ph type="dt" sz="half" idx="10"/>
          </p:nvPr>
        </p:nvSpPr>
        <p:spPr/>
        <p:txBody>
          <a:bodyPr/>
          <a:lstStyle/>
          <a:p>
            <a:fld id="{2C1BA0C2-B3D8-4A62-8FA8-D1728089C132}" type="datetimeFigureOut">
              <a:rPr lang="en-IN" smtClean="0"/>
              <a:t>16-10-2026</a:t>
            </a:fld>
            <a:endParaRPr lang="en-IN"/>
          </a:p>
        </p:txBody>
      </p:sp>
      <p:sp>
        <p:nvSpPr>
          <p:cNvPr id="4" name="Footer Placeholder 3">
            <a:extLst>
              <a:ext uri="{FF2B5EF4-FFF2-40B4-BE49-F238E27FC236}">
                <a16:creationId xmlns:a16="http://schemas.microsoft.com/office/drawing/2014/main" id="{4E4A42A2-86A2-8B97-54D6-939A317CCE3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4202993-AC25-ADC3-1EA6-71F7D5FF7643}"/>
              </a:ext>
            </a:extLst>
          </p:cNvPr>
          <p:cNvSpPr>
            <a:spLocks noGrp="1"/>
          </p:cNvSpPr>
          <p:nvPr>
            <p:ph type="sldNum" sz="quarter" idx="12"/>
          </p:nvPr>
        </p:nvSpPr>
        <p:spPr/>
        <p:txBody>
          <a:bodyPr/>
          <a:lstStyle/>
          <a:p>
            <a:fld id="{387B1C38-4CC7-46CC-ACA0-4F92971ED77B}" type="slidenum">
              <a:rPr lang="en-IN" smtClean="0"/>
              <a:t>‹#›</a:t>
            </a:fld>
            <a:endParaRPr lang="en-IN"/>
          </a:p>
        </p:txBody>
      </p:sp>
      <p:pic>
        <p:nvPicPr>
          <p:cNvPr id="6" name="Picture 5">
            <a:extLst>
              <a:ext uri="{FF2B5EF4-FFF2-40B4-BE49-F238E27FC236}">
                <a16:creationId xmlns:a16="http://schemas.microsoft.com/office/drawing/2014/main" id="{2B57158A-1C01-E460-D362-8676F264E533}"/>
              </a:ext>
            </a:extLst>
          </p:cNvPr>
          <p:cNvPicPr>
            <a:picLocks noChangeAspect="1"/>
          </p:cNvPicPr>
          <p:nvPr/>
        </p:nvPicPr>
        <p:blipFill>
          <a:blip r:embed="rId2" cstate="print">
            <a:extLst>
              <a:ext uri="{28A0092B-C50C-407E-A947-70E740481C1C}">
                <a14:useLocalDpi xmlns:a14="http://schemas.microsoft.com/office/drawing/2010/main" val="0"/>
              </a:ext>
            </a:extLst>
          </a:blip>
          <a:srcRect t="11278" b="11278"/>
          <a:stretch/>
        </p:blipFill>
        <p:spPr>
          <a:xfrm>
            <a:off x="0" y="1259979"/>
            <a:ext cx="12192000" cy="6858000"/>
          </a:xfrm>
          <a:prstGeom prst="rect">
            <a:avLst/>
          </a:prstGeom>
        </p:spPr>
      </p:pic>
      <p:pic>
        <p:nvPicPr>
          <p:cNvPr id="7" name="Picture 6">
            <a:extLst>
              <a:ext uri="{FF2B5EF4-FFF2-40B4-BE49-F238E27FC236}">
                <a16:creationId xmlns:a16="http://schemas.microsoft.com/office/drawing/2014/main" id="{EE9EF179-B536-F967-9049-B52BD4CDA04B}"/>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9824848" y="76564"/>
            <a:ext cx="2213243" cy="898936"/>
          </a:xfrm>
          <a:prstGeom prst="rect">
            <a:avLst/>
          </a:prstGeom>
        </p:spPr>
      </p:pic>
      <p:sp>
        <p:nvSpPr>
          <p:cNvPr id="8" name="TextBox 7">
            <a:extLst>
              <a:ext uri="{FF2B5EF4-FFF2-40B4-BE49-F238E27FC236}">
                <a16:creationId xmlns:a16="http://schemas.microsoft.com/office/drawing/2014/main" id="{EA834E19-C0E1-510F-A6D7-50CC89F104E3}"/>
              </a:ext>
            </a:extLst>
          </p:cNvPr>
          <p:cNvSpPr txBox="1"/>
          <p:nvPr/>
        </p:nvSpPr>
        <p:spPr>
          <a:xfrm>
            <a:off x="0" y="6308079"/>
            <a:ext cx="6096000" cy="461665"/>
          </a:xfrm>
          <a:prstGeom prst="rect">
            <a:avLst/>
          </a:prstGeom>
          <a:noFill/>
        </p:spPr>
        <p:txBody>
          <a:bodyPr wrap="square">
            <a:spAutoFit/>
          </a:bodyPr>
          <a:lstStyle/>
          <a:p>
            <a:r>
              <a:rPr lang="en-IN" sz="2400" b="1">
                <a:solidFill>
                  <a:schemeClr val="bg1"/>
                </a:solidFill>
                <a:latin typeface="Arial" panose="020B0604020202020204" pitchFamily="34" charset="0"/>
                <a:cs typeface="Arial" panose="020B0604020202020204" pitchFamily="34" charset="0"/>
              </a:rPr>
              <a:t>www.mitvpu.ac.in</a:t>
            </a:r>
          </a:p>
        </p:txBody>
      </p:sp>
      <p:sp>
        <p:nvSpPr>
          <p:cNvPr id="11" name="Title 10">
            <a:extLst>
              <a:ext uri="{FF2B5EF4-FFF2-40B4-BE49-F238E27FC236}">
                <a16:creationId xmlns:a16="http://schemas.microsoft.com/office/drawing/2014/main" id="{2044E77B-E734-20D7-5B34-FFDBE2C4E4FB}"/>
              </a:ext>
            </a:extLst>
          </p:cNvPr>
          <p:cNvSpPr>
            <a:spLocks noGrp="1"/>
          </p:cNvSpPr>
          <p:nvPr>
            <p:ph type="title"/>
          </p:nvPr>
        </p:nvSpPr>
        <p:spPr>
          <a:xfrm>
            <a:off x="0" y="1753624"/>
            <a:ext cx="10515600" cy="1325563"/>
          </a:xfrm>
        </p:spPr>
        <p:txBody>
          <a:bodyPr>
            <a:normAutofit/>
          </a:bodyPr>
          <a:lstStyle>
            <a:lvl1pPr>
              <a:defRPr sz="3600" b="1">
                <a:solidFill>
                  <a:srgbClr val="6D110E"/>
                </a:solidFill>
                <a:latin typeface="Arial" panose="020B0604020202020204" pitchFamily="34" charset="0"/>
                <a:cs typeface="Arial" panose="020B0604020202020204" pitchFamily="34" charset="0"/>
              </a:defRPr>
            </a:lvl1pPr>
          </a:lstStyle>
          <a:p>
            <a:r>
              <a:rPr lang="en-US"/>
              <a:t>Click to edit Master title style</a:t>
            </a:r>
            <a:endParaRPr lang="en-IN"/>
          </a:p>
        </p:txBody>
      </p:sp>
    </p:spTree>
    <p:extLst>
      <p:ext uri="{BB962C8B-B14F-4D97-AF65-F5344CB8AC3E}">
        <p14:creationId xmlns:p14="http://schemas.microsoft.com/office/powerpoint/2010/main" val="1522424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5CF85-00C6-4A00-3A6F-F8822D716A63}"/>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8454F85F-01B9-9DDC-41CD-85CB752C0219}"/>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89AED4-1C54-5B88-356A-9694A5EA7C7C}"/>
              </a:ext>
            </a:extLst>
          </p:cNvPr>
          <p:cNvSpPr txBox="1">
            <a:spLocks noGrp="1"/>
          </p:cNvSpPr>
          <p:nvPr>
            <p:ph type="dt" sz="half" idx="7"/>
          </p:nvPr>
        </p:nvSpPr>
        <p:spPr/>
        <p:txBody>
          <a:bodyPr/>
          <a:lstStyle>
            <a:lvl1pPr>
              <a:defRPr/>
            </a:lvl1pPr>
          </a:lstStyle>
          <a:p>
            <a:fld id="{2C1BA0C2-B3D8-4A62-8FA8-D1728089C132}" type="datetimeFigureOut">
              <a:rPr lang="en-IN" smtClean="0"/>
              <a:t>16-10-2026</a:t>
            </a:fld>
            <a:endParaRPr lang="en-IN"/>
          </a:p>
        </p:txBody>
      </p:sp>
      <p:sp>
        <p:nvSpPr>
          <p:cNvPr id="5" name="Footer Placeholder 4">
            <a:extLst>
              <a:ext uri="{FF2B5EF4-FFF2-40B4-BE49-F238E27FC236}">
                <a16:creationId xmlns:a16="http://schemas.microsoft.com/office/drawing/2014/main" id="{06875C0B-184A-8BD8-229B-8FAE8C7E0B2A}"/>
              </a:ext>
            </a:extLst>
          </p:cNvPr>
          <p:cNvSpPr txBox="1">
            <a:spLocks noGrp="1"/>
          </p:cNvSpPr>
          <p:nvPr>
            <p:ph type="ftr" sz="quarter" idx="9"/>
          </p:nvPr>
        </p:nvSpPr>
        <p:spPr/>
        <p:txBody>
          <a:bodyPr/>
          <a:lstStyle>
            <a:lvl1pPr>
              <a:defRPr/>
            </a:lvl1pPr>
          </a:lstStyle>
          <a:p>
            <a:endParaRPr lang="en-IN"/>
          </a:p>
        </p:txBody>
      </p:sp>
      <p:sp>
        <p:nvSpPr>
          <p:cNvPr id="6" name="Slide Number Placeholder 5">
            <a:extLst>
              <a:ext uri="{FF2B5EF4-FFF2-40B4-BE49-F238E27FC236}">
                <a16:creationId xmlns:a16="http://schemas.microsoft.com/office/drawing/2014/main" id="{39C89019-EA8F-C028-05B1-2229E6401DD1}"/>
              </a:ext>
            </a:extLst>
          </p:cNvPr>
          <p:cNvSpPr txBox="1">
            <a:spLocks noGrp="1"/>
          </p:cNvSpPr>
          <p:nvPr>
            <p:ph type="sldNum" sz="quarter" idx="8"/>
          </p:nvPr>
        </p:nvSpPr>
        <p:spPr/>
        <p:txBody>
          <a:bodyPr/>
          <a:lstStyle>
            <a:lvl1pPr>
              <a:defRPr/>
            </a:lvl1pPr>
          </a:lstStyle>
          <a:p>
            <a:fld id="{387B1C38-4CC7-46CC-ACA0-4F92971ED77B}" type="slidenum">
              <a:rPr lang="en-IN" smtClean="0"/>
              <a:t>‹#›</a:t>
            </a:fld>
            <a:endParaRPr lang="en-IN"/>
          </a:p>
        </p:txBody>
      </p:sp>
    </p:spTree>
    <p:extLst>
      <p:ext uri="{BB962C8B-B14F-4D97-AF65-F5344CB8AC3E}">
        <p14:creationId xmlns:p14="http://schemas.microsoft.com/office/powerpoint/2010/main" val="2361598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E7B55-2A92-7CDD-7D20-B019DC1E49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17FBCC0-9283-6449-7209-14415B1CA4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BE4045D-7321-05C4-477D-ED99334C9A74}"/>
              </a:ext>
            </a:extLst>
          </p:cNvPr>
          <p:cNvSpPr>
            <a:spLocks noGrp="1"/>
          </p:cNvSpPr>
          <p:nvPr>
            <p:ph type="dt" sz="half" idx="10"/>
          </p:nvPr>
        </p:nvSpPr>
        <p:spPr/>
        <p:txBody>
          <a:bodyPr/>
          <a:lstStyle/>
          <a:p>
            <a:fld id="{2C1BA0C2-B3D8-4A62-8FA8-D1728089C132}" type="datetimeFigureOut">
              <a:rPr lang="en-IN" smtClean="0"/>
              <a:t>16-10-2026</a:t>
            </a:fld>
            <a:endParaRPr lang="en-IN"/>
          </a:p>
        </p:txBody>
      </p:sp>
      <p:sp>
        <p:nvSpPr>
          <p:cNvPr id="5" name="Footer Placeholder 4">
            <a:extLst>
              <a:ext uri="{FF2B5EF4-FFF2-40B4-BE49-F238E27FC236}">
                <a16:creationId xmlns:a16="http://schemas.microsoft.com/office/drawing/2014/main" id="{A9EFB2A4-0692-EB21-881C-14ADC3FA3B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6C7844-A7A6-861F-E0C6-9E6C4E08B8BE}"/>
              </a:ext>
            </a:extLst>
          </p:cNvPr>
          <p:cNvSpPr>
            <a:spLocks noGrp="1"/>
          </p:cNvSpPr>
          <p:nvPr>
            <p:ph type="sldNum" sz="quarter" idx="12"/>
          </p:nvPr>
        </p:nvSpPr>
        <p:spPr/>
        <p:txBody>
          <a:bodyPr/>
          <a:lstStyle/>
          <a:p>
            <a:fld id="{387B1C38-4CC7-46CC-ACA0-4F92971ED77B}" type="slidenum">
              <a:rPr lang="en-IN" smtClean="0"/>
              <a:t>‹#›</a:t>
            </a:fld>
            <a:endParaRPr lang="en-IN"/>
          </a:p>
        </p:txBody>
      </p:sp>
    </p:spTree>
    <p:extLst>
      <p:ext uri="{BB962C8B-B14F-4D97-AF65-F5344CB8AC3E}">
        <p14:creationId xmlns:p14="http://schemas.microsoft.com/office/powerpoint/2010/main" val="943741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F3CD96-C148-D074-49A0-EC59189C01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DD345C-5EE0-06EA-9FC9-50CB81BD36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DA95E5-A1C6-A0F1-2A46-B97C094EBF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1BA0C2-B3D8-4A62-8FA8-D1728089C132}" type="datetimeFigureOut">
              <a:rPr lang="en-IN" smtClean="0"/>
              <a:t>16-10-2026</a:t>
            </a:fld>
            <a:endParaRPr lang="en-IN"/>
          </a:p>
        </p:txBody>
      </p:sp>
      <p:sp>
        <p:nvSpPr>
          <p:cNvPr id="5" name="Footer Placeholder 4">
            <a:extLst>
              <a:ext uri="{FF2B5EF4-FFF2-40B4-BE49-F238E27FC236}">
                <a16:creationId xmlns:a16="http://schemas.microsoft.com/office/drawing/2014/main" id="{FF4E1DE8-E50D-0CF8-781A-4D24346D7B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3E6F4C4-4AAB-E4C5-D96E-80D95FDDD7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87B1C38-4CC7-46CC-ACA0-4F92971ED77B}" type="slidenum">
              <a:rPr lang="en-IN" smtClean="0"/>
              <a:t>‹#›</a:t>
            </a:fld>
            <a:endParaRPr lang="en-IN"/>
          </a:p>
        </p:txBody>
      </p:sp>
    </p:spTree>
    <p:extLst>
      <p:ext uri="{BB962C8B-B14F-4D97-AF65-F5344CB8AC3E}">
        <p14:creationId xmlns:p14="http://schemas.microsoft.com/office/powerpoint/2010/main" val="26862860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8084A7-6826-573E-87A0-D5FC10F7C97B}"/>
              </a:ext>
            </a:extLst>
          </p:cNvPr>
          <p:cNvSpPr>
            <a:spLocks noGrp="1"/>
          </p:cNvSpPr>
          <p:nvPr>
            <p:ph type="title"/>
          </p:nvPr>
        </p:nvSpPr>
        <p:spPr>
          <a:xfrm>
            <a:off x="838200" y="1695815"/>
            <a:ext cx="10515600" cy="1325563"/>
          </a:xfrm>
        </p:spPr>
        <p:txBody>
          <a:bodyPr/>
          <a:lstStyle/>
          <a:p>
            <a:r>
              <a:rPr lang="en-US" sz="3200" dirty="0"/>
              <a:t>Project Title: Machine Learning–Based Diabetes Prediction through a Mobile App</a:t>
            </a:r>
            <a:endParaRPr lang="en-IN" dirty="0"/>
          </a:p>
        </p:txBody>
      </p:sp>
      <p:sp>
        <p:nvSpPr>
          <p:cNvPr id="6" name="TextBox 5">
            <a:extLst>
              <a:ext uri="{FF2B5EF4-FFF2-40B4-BE49-F238E27FC236}">
                <a16:creationId xmlns:a16="http://schemas.microsoft.com/office/drawing/2014/main" id="{6E03ED4D-6C3D-547E-53F5-1B3E8BDAA8AC}"/>
              </a:ext>
            </a:extLst>
          </p:cNvPr>
          <p:cNvSpPr txBox="1"/>
          <p:nvPr/>
        </p:nvSpPr>
        <p:spPr>
          <a:xfrm>
            <a:off x="838200" y="932821"/>
            <a:ext cx="9144000" cy="646331"/>
          </a:xfrm>
          <a:prstGeom prst="rect">
            <a:avLst/>
          </a:prstGeom>
          <a:noFill/>
        </p:spPr>
        <p:txBody>
          <a:bodyPr wrap="square">
            <a:spAutoFit/>
          </a:bodyPr>
          <a:lstStyle/>
          <a:p>
            <a:r>
              <a:rPr lang="en-US" sz="3600" dirty="0"/>
              <a:t>Team No: 15</a:t>
            </a:r>
            <a:endParaRPr lang="en-IN" dirty="0"/>
          </a:p>
        </p:txBody>
      </p:sp>
      <p:sp>
        <p:nvSpPr>
          <p:cNvPr id="10" name="TextBox 9">
            <a:extLst>
              <a:ext uri="{FF2B5EF4-FFF2-40B4-BE49-F238E27FC236}">
                <a16:creationId xmlns:a16="http://schemas.microsoft.com/office/drawing/2014/main" id="{DE8DD33E-7043-83A5-EE63-0B0CD38E08B7}"/>
              </a:ext>
            </a:extLst>
          </p:cNvPr>
          <p:cNvSpPr txBox="1"/>
          <p:nvPr/>
        </p:nvSpPr>
        <p:spPr>
          <a:xfrm>
            <a:off x="838200" y="3105834"/>
            <a:ext cx="9144000" cy="646331"/>
          </a:xfrm>
          <a:prstGeom prst="rect">
            <a:avLst/>
          </a:prstGeom>
          <a:noFill/>
        </p:spPr>
        <p:txBody>
          <a:bodyPr wrap="square">
            <a:spAutoFit/>
          </a:bodyPr>
          <a:lstStyle/>
          <a:p>
            <a:r>
              <a:rPr lang="en-US" sz="3600" dirty="0"/>
              <a:t>Guide Name: Preethi Baligar</a:t>
            </a:r>
            <a:endParaRPr lang="en-IN" dirty="0"/>
          </a:p>
        </p:txBody>
      </p:sp>
    </p:spTree>
    <p:extLst>
      <p:ext uri="{BB962C8B-B14F-4D97-AF65-F5344CB8AC3E}">
        <p14:creationId xmlns:p14="http://schemas.microsoft.com/office/powerpoint/2010/main" val="29317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532511-641E-ECFE-4C43-DB95A09BD130}"/>
              </a:ext>
            </a:extLst>
          </p:cNvPr>
          <p:cNvSpPr>
            <a:spLocks noGrp="1"/>
          </p:cNvSpPr>
          <p:nvPr>
            <p:ph type="title"/>
          </p:nvPr>
        </p:nvSpPr>
        <p:spPr/>
        <p:txBody>
          <a:bodyPr/>
          <a:lstStyle/>
          <a:p>
            <a:r>
              <a:rPr lang="en-US" dirty="0"/>
              <a:t>Team Members</a:t>
            </a:r>
            <a:endParaRPr lang="en-IN" dirty="0"/>
          </a:p>
        </p:txBody>
      </p:sp>
      <p:graphicFrame>
        <p:nvGraphicFramePr>
          <p:cNvPr id="5" name="Content Placeholder 4">
            <a:extLst>
              <a:ext uri="{FF2B5EF4-FFF2-40B4-BE49-F238E27FC236}">
                <a16:creationId xmlns:a16="http://schemas.microsoft.com/office/drawing/2014/main" id="{72471176-C9B4-2653-B85D-E087EFD4D9C5}"/>
              </a:ext>
            </a:extLst>
          </p:cNvPr>
          <p:cNvGraphicFramePr>
            <a:graphicFrameLocks noGrp="1"/>
          </p:cNvGraphicFramePr>
          <p:nvPr>
            <p:ph sz="quarter" idx="13"/>
            <p:extLst>
              <p:ext uri="{D42A27DB-BD31-4B8C-83A1-F6EECF244321}">
                <p14:modId xmlns:p14="http://schemas.microsoft.com/office/powerpoint/2010/main" val="1751821723"/>
              </p:ext>
            </p:extLst>
          </p:nvPr>
        </p:nvGraphicFramePr>
        <p:xfrm>
          <a:off x="438150" y="1276350"/>
          <a:ext cx="7076747" cy="1854200"/>
        </p:xfrm>
        <a:graphic>
          <a:graphicData uri="http://schemas.openxmlformats.org/drawingml/2006/table">
            <a:tbl>
              <a:tblPr firstRow="1" bandRow="1">
                <a:tableStyleId>{5C22544A-7EE6-4342-B048-85BDC9FD1C3A}</a:tableStyleId>
              </a:tblPr>
              <a:tblGrid>
                <a:gridCol w="980747">
                  <a:extLst>
                    <a:ext uri="{9D8B030D-6E8A-4147-A177-3AD203B41FA5}">
                      <a16:colId xmlns:a16="http://schemas.microsoft.com/office/drawing/2014/main" val="4137186438"/>
                    </a:ext>
                  </a:extLst>
                </a:gridCol>
                <a:gridCol w="2638096">
                  <a:extLst>
                    <a:ext uri="{9D8B030D-6E8A-4147-A177-3AD203B41FA5}">
                      <a16:colId xmlns:a16="http://schemas.microsoft.com/office/drawing/2014/main" val="3951842667"/>
                    </a:ext>
                  </a:extLst>
                </a:gridCol>
                <a:gridCol w="3457904">
                  <a:extLst>
                    <a:ext uri="{9D8B030D-6E8A-4147-A177-3AD203B41FA5}">
                      <a16:colId xmlns:a16="http://schemas.microsoft.com/office/drawing/2014/main" val="1047184266"/>
                    </a:ext>
                  </a:extLst>
                </a:gridCol>
              </a:tblGrid>
              <a:tr h="370840">
                <a:tc>
                  <a:txBody>
                    <a:bodyPr/>
                    <a:lstStyle/>
                    <a:p>
                      <a:r>
                        <a:rPr lang="en-US" dirty="0"/>
                        <a:t>Sl.No</a:t>
                      </a:r>
                      <a:endParaRPr lang="en-IN" dirty="0"/>
                    </a:p>
                  </a:txBody>
                  <a:tcPr/>
                </a:tc>
                <a:tc>
                  <a:txBody>
                    <a:bodyPr/>
                    <a:lstStyle/>
                    <a:p>
                      <a:r>
                        <a:rPr lang="en-US" dirty="0"/>
                        <a:t>PRN</a:t>
                      </a:r>
                      <a:endParaRPr lang="en-IN" dirty="0"/>
                    </a:p>
                  </a:txBody>
                  <a:tcPr/>
                </a:tc>
                <a:tc>
                  <a:txBody>
                    <a:bodyPr/>
                    <a:lstStyle/>
                    <a:p>
                      <a:r>
                        <a:rPr lang="en-US" dirty="0"/>
                        <a:t>Name</a:t>
                      </a:r>
                      <a:endParaRPr lang="en-IN" dirty="0"/>
                    </a:p>
                  </a:txBody>
                  <a:tcPr/>
                </a:tc>
                <a:extLst>
                  <a:ext uri="{0D108BD9-81ED-4DB2-BD59-A6C34878D82A}">
                    <a16:rowId xmlns:a16="http://schemas.microsoft.com/office/drawing/2014/main" val="1220585741"/>
                  </a:ext>
                </a:extLst>
              </a:tr>
              <a:tr h="370840">
                <a:tc>
                  <a:txBody>
                    <a:bodyPr/>
                    <a:lstStyle/>
                    <a:p>
                      <a:r>
                        <a:rPr lang="en-US" dirty="0"/>
                        <a:t>1</a:t>
                      </a:r>
                      <a:endParaRPr lang="en-IN" dirty="0"/>
                    </a:p>
                  </a:txBody>
                  <a:tcPr/>
                </a:tc>
                <a:tc>
                  <a:txBody>
                    <a:bodyPr/>
                    <a:lstStyle/>
                    <a:p>
                      <a:r>
                        <a:t>SCFU424022</a:t>
                      </a:r>
                      <a:endParaRPr lang="en-IN"/>
                    </a:p>
                  </a:txBody>
                  <a:tcPr/>
                </a:tc>
                <a:tc>
                  <a:txBody>
                    <a:bodyPr/>
                    <a:lstStyle/>
                    <a:p>
                      <a:r>
                        <a:t>Tazeen Moulavi</a:t>
                      </a:r>
                      <a:endParaRPr lang="en-IN"/>
                    </a:p>
                  </a:txBody>
                  <a:tcPr/>
                </a:tc>
                <a:extLst>
                  <a:ext uri="{0D108BD9-81ED-4DB2-BD59-A6C34878D82A}">
                    <a16:rowId xmlns:a16="http://schemas.microsoft.com/office/drawing/2014/main" val="3732548728"/>
                  </a:ext>
                </a:extLst>
              </a:tr>
              <a:tr h="370840">
                <a:tc>
                  <a:txBody>
                    <a:bodyPr/>
                    <a:lstStyle/>
                    <a:p>
                      <a:r>
                        <a:rPr lang="en-US" dirty="0"/>
                        <a:t>2</a:t>
                      </a:r>
                      <a:endParaRPr lang="en-IN" dirty="0"/>
                    </a:p>
                  </a:txBody>
                  <a:tcPr/>
                </a:tc>
                <a:tc>
                  <a:txBody>
                    <a:bodyPr/>
                    <a:lstStyle/>
                    <a:p>
                      <a:r>
                        <a:t>SCFU424055</a:t>
                      </a:r>
                      <a:endParaRPr lang="en-IN"/>
                    </a:p>
                  </a:txBody>
                  <a:tcPr/>
                </a:tc>
                <a:tc>
                  <a:txBody>
                    <a:bodyPr/>
                    <a:lstStyle/>
                    <a:p>
                      <a:r>
                        <a:t>Atif Shaikh</a:t>
                      </a:r>
                      <a:endParaRPr lang="en-IN"/>
                    </a:p>
                  </a:txBody>
                  <a:tcPr/>
                </a:tc>
                <a:extLst>
                  <a:ext uri="{0D108BD9-81ED-4DB2-BD59-A6C34878D82A}">
                    <a16:rowId xmlns:a16="http://schemas.microsoft.com/office/drawing/2014/main" val="3085674892"/>
                  </a:ext>
                </a:extLst>
              </a:tr>
              <a:tr h="370840">
                <a:tc>
                  <a:txBody>
                    <a:bodyPr/>
                    <a:lstStyle/>
                    <a:p>
                      <a:r>
                        <a:rPr lang="en-US" dirty="0"/>
                        <a:t>3</a:t>
                      </a:r>
                      <a:endParaRPr lang="en-IN" dirty="0"/>
                    </a:p>
                  </a:txBody>
                  <a:tcPr/>
                </a:tc>
                <a:tc>
                  <a:txBody>
                    <a:bodyPr/>
                    <a:lstStyle/>
                    <a:p>
                      <a:r>
                        <a:t>SCFU424060</a:t>
                      </a:r>
                      <a:endParaRPr lang="en-IN"/>
                    </a:p>
                  </a:txBody>
                  <a:tcPr/>
                </a:tc>
                <a:tc>
                  <a:txBody>
                    <a:bodyPr/>
                    <a:lstStyle/>
                    <a:p>
                      <a:r>
                        <a:t>Sami Pathan</a:t>
                      </a:r>
                      <a:endParaRPr lang="en-IN" dirty="0"/>
                    </a:p>
                  </a:txBody>
                  <a:tcPr/>
                </a:tc>
                <a:extLst>
                  <a:ext uri="{0D108BD9-81ED-4DB2-BD59-A6C34878D82A}">
                    <a16:rowId xmlns:a16="http://schemas.microsoft.com/office/drawing/2014/main" val="4203482714"/>
                  </a:ext>
                </a:extLst>
              </a:tr>
              <a:tr h="370840">
                <a:tc>
                  <a:txBody>
                    <a:bodyPr/>
                    <a:lstStyle/>
                    <a:p>
                      <a:r>
                        <a:rPr lang="en-US" dirty="0"/>
                        <a:t>4</a:t>
                      </a:r>
                      <a:endParaRPr lang="en-IN" dirty="0"/>
                    </a:p>
                  </a:txBody>
                  <a:tcPr/>
                </a:tc>
                <a:tc>
                  <a:txBody>
                    <a:bodyPr/>
                    <a:lstStyle/>
                    <a:p>
                      <a:r>
                        <a:t>SCFU424045</a:t>
                      </a:r>
                      <a:endParaRPr lang="en-IN" dirty="0"/>
                    </a:p>
                  </a:txBody>
                  <a:tcPr/>
                </a:tc>
                <a:tc>
                  <a:txBody>
                    <a:bodyPr/>
                    <a:lstStyle/>
                    <a:p>
                      <a:r>
                        <a:t>Subhan Shaikh</a:t>
                      </a:r>
                      <a:endParaRPr lang="en-IN" dirty="0"/>
                    </a:p>
                  </a:txBody>
                  <a:tcPr/>
                </a:tc>
                <a:extLst>
                  <a:ext uri="{0D108BD9-81ED-4DB2-BD59-A6C34878D82A}">
                    <a16:rowId xmlns:a16="http://schemas.microsoft.com/office/drawing/2014/main" val="2189236457"/>
                  </a:ext>
                </a:extLst>
              </a:tr>
            </a:tbl>
          </a:graphicData>
        </a:graphic>
      </p:graphicFrame>
    </p:spTree>
    <p:extLst>
      <p:ext uri="{BB962C8B-B14F-4D97-AF65-F5344CB8AC3E}">
        <p14:creationId xmlns:p14="http://schemas.microsoft.com/office/powerpoint/2010/main" val="3705959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FCA360-7555-C365-8ABD-AC210A7AC544}"/>
              </a:ext>
            </a:extLst>
          </p:cNvPr>
          <p:cNvSpPr>
            <a:spLocks noGrp="1"/>
          </p:cNvSpPr>
          <p:nvPr>
            <p:ph type="title"/>
          </p:nvPr>
        </p:nvSpPr>
        <p:spPr/>
        <p:txBody>
          <a:bodyPr/>
          <a:lstStyle/>
          <a:p>
            <a:r>
              <a:rPr lang="en-US" dirty="0"/>
              <a:t>Domain and Problem Statement</a:t>
            </a:r>
            <a:endParaRPr lang="en-IN" dirty="0"/>
          </a:p>
        </p:txBody>
      </p:sp>
      <p:sp>
        <p:nvSpPr>
          <p:cNvPr id="5" name="Domain card"/>
          <p:cNvSpPr/>
          <p:nvPr/>
        </p:nvSpPr>
        <p:spPr>
          <a:xfrm>
            <a:off x="438912" y="1280160"/>
            <a:ext cx="5532120" cy="2148840"/>
          </a:xfrm>
          <a:prstGeom prst="roundRect">
            <a:avLst>
              <a:gd name="adj" fmla="val 7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46304" rIns="182880" bIns="91440" rtlCol="0" anchor="t"/>
          <a:lstStyle/>
          <a:p>
            <a:pPr algn="l">
              <a:spcAft>
                <a:spcPts val="600"/>
              </a:spcAft>
            </a:pPr>
            <a:r>
              <a:rPr sz="1800" b="1" i="0">
                <a:solidFill>
                  <a:srgbClr val="156082"/>
                </a:solidFill>
              </a:rPr>
              <a:t>Domain and base paper</a:t>
            </a:r>
          </a:p>
          <a:p>
            <a:pPr marL="201168" indent="-201168" algn="l">
              <a:spcAft>
                <a:spcPts val="400"/>
              </a:spcAft>
              <a:buFont typeface="Arial"/>
              <a:buChar char="•"/>
            </a:pPr>
            <a:r>
              <a:rPr sz="1400" b="0" i="0">
                <a:solidFill>
                  <a:srgbClr val="1F2A37"/>
                </a:solidFill>
              </a:rPr>
              <a:t>Healthcare AI: machine learning for early prediction of chronic disease (diabetes)</a:t>
            </a:r>
          </a:p>
          <a:p>
            <a:pPr marL="201168" indent="-201168" algn="l">
              <a:buFont typeface="Arial"/>
              <a:buChar char="•"/>
            </a:pPr>
            <a:r>
              <a:rPr sz="1400" b="0" i="0">
                <a:solidFill>
                  <a:srgbClr val="1F2A37"/>
                </a:solidFill>
              </a:rPr>
              <a:t>Base paper: El-Sofany et al., “A Proposed Technique Using Machine Learning for the Prediction of Diabetes Disease through a Mobile App”, Int. J. Intelligent Systems, 2024</a:t>
            </a:r>
          </a:p>
        </p:txBody>
      </p:sp>
      <p:sp>
        <p:nvSpPr>
          <p:cNvPr id="6" name="Problem card"/>
          <p:cNvSpPr/>
          <p:nvPr/>
        </p:nvSpPr>
        <p:spPr>
          <a:xfrm>
            <a:off x="6217920" y="1280160"/>
            <a:ext cx="5532120" cy="2148840"/>
          </a:xfrm>
          <a:prstGeom prst="roundRect">
            <a:avLst>
              <a:gd name="adj" fmla="val 7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46304" rIns="182880" bIns="91440" rtlCol="0" anchor="t"/>
          <a:lstStyle/>
          <a:p>
            <a:pPr>
              <a:spcAft>
                <a:spcPts val="600"/>
              </a:spcAft>
            </a:pPr>
            <a:r>
              <a:rPr lang="en-US" b="1">
                <a:solidFill>
                  <a:srgbClr val="C8511A"/>
                </a:solidFill>
              </a:rPr>
              <a:t>Problem Statement </a:t>
            </a:r>
          </a:p>
          <a:p>
            <a:pPr marL="200660" indent="-200660">
              <a:spcAft>
                <a:spcPts val="400"/>
              </a:spcAft>
              <a:buFont typeface="Arial"/>
              <a:buChar char="•"/>
            </a:pPr>
            <a:r>
              <a:rPr lang="en-US" sz="1400">
                <a:solidFill>
                  <a:srgbClr val="1F2A37"/>
                </a:solidFill>
                <a:ea typeface="+mn-lt"/>
                <a:cs typeface="+mn-lt"/>
              </a:rPr>
              <a:t>Diabetes requires early detection to prevent serious complications. This project uses machine learning to predict diabetes risk from clinical parameters such as glucose, BMI, blood pressure, insulin, and age, while also explaining the factors influencing each prediction</a:t>
            </a:r>
            <a:endParaRPr lang="en-US" sz="1400"/>
          </a:p>
        </p:txBody>
      </p:sp>
      <p:sp>
        <p:nvSpPr>
          <p:cNvPr id="7" name="Gaps heading"/>
          <p:cNvSpPr txBox="1"/>
          <p:nvPr/>
        </p:nvSpPr>
        <p:spPr>
          <a:xfrm>
            <a:off x="438912" y="3611880"/>
            <a:ext cx="7315200" cy="365760"/>
          </a:xfrm>
          <a:prstGeom prst="rect">
            <a:avLst/>
          </a:prstGeom>
          <a:noFill/>
        </p:spPr>
        <p:txBody>
          <a:bodyPr wrap="square" lIns="0" tIns="0" rIns="0" bIns="0" anchor="t">
            <a:spAutoFit/>
          </a:bodyPr>
          <a:lstStyle/>
          <a:p>
            <a:pPr algn="l"/>
            <a:r>
              <a:rPr sz="1800" b="1" i="0">
                <a:solidFill>
                  <a:srgbClr val="0E2841"/>
                </a:solidFill>
              </a:rPr>
              <a:t>Gaps in existing literature</a:t>
            </a:r>
          </a:p>
        </p:txBody>
      </p:sp>
      <p:sp>
        <p:nvSpPr>
          <p:cNvPr id="8" name="Gap card 1"/>
          <p:cNvSpPr/>
          <p:nvPr/>
        </p:nvSpPr>
        <p:spPr>
          <a:xfrm>
            <a:off x="438912" y="4069080"/>
            <a:ext cx="3621024" cy="1600200"/>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46304" rIns="182880" bIns="91440" rtlCol="0" anchor="t"/>
          <a:lstStyle/>
          <a:p>
            <a:pPr algn="l">
              <a:spcAft>
                <a:spcPts val="400"/>
              </a:spcAft>
            </a:pPr>
            <a:r>
              <a:rPr sz="1800" b="1" i="0">
                <a:solidFill>
                  <a:srgbClr val="C8511A"/>
                </a:solidFill>
              </a:rPr>
              <a:t>1  </a:t>
            </a:r>
            <a:r>
              <a:rPr sz="1600" b="1" i="0">
                <a:solidFill>
                  <a:srgbClr val="0E2841"/>
                </a:solidFill>
              </a:rPr>
              <a:t>Single-algorithm studies</a:t>
            </a:r>
          </a:p>
          <a:p>
            <a:pPr algn="l"/>
            <a:r>
              <a:rPr sz="1400" b="0" i="0">
                <a:solidFill>
                  <a:srgbClr val="1F2A37"/>
                </a:solidFill>
              </a:rPr>
              <a:t>Most work tests one model; few compare many, so the best approach is unclear.</a:t>
            </a:r>
          </a:p>
        </p:txBody>
      </p:sp>
      <p:sp>
        <p:nvSpPr>
          <p:cNvPr id="9" name="Gap card 2"/>
          <p:cNvSpPr/>
          <p:nvPr/>
        </p:nvSpPr>
        <p:spPr>
          <a:xfrm>
            <a:off x="4283964" y="4069080"/>
            <a:ext cx="3621024" cy="1600200"/>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46304" rIns="182880" bIns="91440" rtlCol="0" anchor="t"/>
          <a:lstStyle/>
          <a:p>
            <a:pPr algn="l">
              <a:spcAft>
                <a:spcPts val="400"/>
              </a:spcAft>
            </a:pPr>
            <a:r>
              <a:rPr sz="1800" b="1" i="0">
                <a:solidFill>
                  <a:srgbClr val="C8511A"/>
                </a:solidFill>
              </a:rPr>
              <a:t>2  </a:t>
            </a:r>
            <a:r>
              <a:rPr sz="1600" b="1" i="0">
                <a:solidFill>
                  <a:srgbClr val="0E2841"/>
                </a:solidFill>
              </a:rPr>
              <a:t>Class imbalance</a:t>
            </a:r>
          </a:p>
          <a:p>
            <a:pPr algn="l"/>
            <a:r>
              <a:rPr sz="1400" b="0" i="0">
                <a:solidFill>
                  <a:srgbClr val="1F2A37"/>
                </a:solidFill>
              </a:rPr>
              <a:t>Diabetic cases are the minority; oversampling such as SMOTE needs systematic evaluation.</a:t>
            </a:r>
          </a:p>
        </p:txBody>
      </p:sp>
      <p:sp>
        <p:nvSpPr>
          <p:cNvPr id="10" name="Gap card 3"/>
          <p:cNvSpPr/>
          <p:nvPr/>
        </p:nvSpPr>
        <p:spPr>
          <a:xfrm>
            <a:off x="8129016" y="4069080"/>
            <a:ext cx="3621024" cy="1600200"/>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46304" rIns="182880" bIns="91440" rtlCol="0" anchor="t"/>
          <a:lstStyle/>
          <a:p>
            <a:pPr algn="l">
              <a:spcAft>
                <a:spcPts val="400"/>
              </a:spcAft>
            </a:pPr>
            <a:r>
              <a:rPr sz="1800" b="1" i="0">
                <a:solidFill>
                  <a:srgbClr val="C8511A"/>
                </a:solidFill>
              </a:rPr>
              <a:t>3  </a:t>
            </a:r>
            <a:r>
              <a:rPr sz="1600" b="1" i="0">
                <a:solidFill>
                  <a:srgbClr val="0E2841"/>
                </a:solidFill>
              </a:rPr>
              <a:t>Few practical tools</a:t>
            </a:r>
          </a:p>
          <a:p>
            <a:pPr algn="l"/>
            <a:r>
              <a:rPr sz="1400" b="0" i="0">
                <a:solidFill>
                  <a:srgbClr val="1F2A37"/>
                </a:solidFill>
              </a:rPr>
              <a:t>Self-diagnosis apps lack tested usability and adaptability across populations.</a:t>
            </a:r>
          </a:p>
        </p:txBody>
      </p:sp>
    </p:spTree>
    <p:extLst>
      <p:ext uri="{BB962C8B-B14F-4D97-AF65-F5344CB8AC3E}">
        <p14:creationId xmlns:p14="http://schemas.microsoft.com/office/powerpoint/2010/main" val="3332765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A0F3A6-430B-A4B0-8BC1-DAF9E2BF7727}"/>
              </a:ext>
            </a:extLst>
          </p:cNvPr>
          <p:cNvSpPr>
            <a:spLocks noGrp="1"/>
          </p:cNvSpPr>
          <p:nvPr>
            <p:ph type="title"/>
          </p:nvPr>
        </p:nvSpPr>
        <p:spPr/>
        <p:txBody>
          <a:bodyPr/>
          <a:lstStyle/>
          <a:p>
            <a:r>
              <a:rPr lang="en-US" dirty="0"/>
              <a:t>Objectives</a:t>
            </a:r>
            <a:endParaRPr lang="en-IN" dirty="0"/>
          </a:p>
        </p:txBody>
      </p:sp>
      <p:sp>
        <p:nvSpPr>
          <p:cNvPr id="5" name="Objective card 1"/>
          <p:cNvSpPr/>
          <p:nvPr/>
        </p:nvSpPr>
        <p:spPr>
          <a:xfrm>
            <a:off x="438912" y="1371600"/>
            <a:ext cx="5532120" cy="3108960"/>
          </a:xfrm>
          <a:prstGeom prst="roundRect">
            <a:avLst>
              <a:gd name="adj" fmla="val 7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bjective number 1"/>
          <p:cNvSpPr/>
          <p:nvPr/>
        </p:nvSpPr>
        <p:spPr>
          <a:xfrm>
            <a:off x="713232" y="1645920"/>
            <a:ext cx="731520" cy="73152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800" b="1" i="0">
                <a:solidFill>
                  <a:srgbClr val="FFFFFF"/>
                </a:solidFill>
              </a:rPr>
              <a:t>1</a:t>
            </a:r>
          </a:p>
        </p:txBody>
      </p:sp>
      <p:sp>
        <p:nvSpPr>
          <p:cNvPr id="7" name="TextBox 6"/>
          <p:cNvSpPr txBox="1"/>
          <p:nvPr/>
        </p:nvSpPr>
        <p:spPr>
          <a:xfrm>
            <a:off x="1627632" y="1645920"/>
            <a:ext cx="4069079" cy="731520"/>
          </a:xfrm>
          <a:prstGeom prst="rect">
            <a:avLst/>
          </a:prstGeom>
          <a:noFill/>
        </p:spPr>
        <p:txBody>
          <a:bodyPr wrap="square" lIns="0" tIns="0" rIns="0" bIns="0" anchor="ctr">
            <a:spAutoFit/>
          </a:bodyPr>
          <a:lstStyle/>
          <a:p>
            <a:pPr algn="l"/>
            <a:r>
              <a:rPr sz="2200" b="1" i="0">
                <a:solidFill>
                  <a:srgbClr val="0E2841"/>
                </a:solidFill>
              </a:rPr>
              <a:t>Find the best classifier</a:t>
            </a:r>
          </a:p>
        </p:txBody>
      </p:sp>
      <p:sp>
        <p:nvSpPr>
          <p:cNvPr id="8" name="TextBox 7"/>
          <p:cNvSpPr txBox="1"/>
          <p:nvPr/>
        </p:nvSpPr>
        <p:spPr>
          <a:xfrm>
            <a:off x="713232" y="2651760"/>
            <a:ext cx="4983480" cy="1737360"/>
          </a:xfrm>
          <a:prstGeom prst="rect">
            <a:avLst/>
          </a:prstGeom>
          <a:noFill/>
        </p:spPr>
        <p:txBody>
          <a:bodyPr wrap="square" lIns="0" tIns="0" rIns="0" bIns="0" anchor="t">
            <a:spAutoFit/>
          </a:bodyPr>
          <a:lstStyle/>
          <a:p>
            <a:pPr algn="l"/>
            <a:r>
              <a:rPr sz="1600" b="0" i="0">
                <a:solidFill>
                  <a:srgbClr val="1F2A37"/>
                </a:solidFill>
              </a:rPr>
              <a:t>Train and compare 10 ML classifiers on the Pima Indians data (plus the authors’ private data), using SMOTE for class imbalance and GridSearchCV tuning, to identify the most accurate model (XGBoost in the base paper).</a:t>
            </a:r>
          </a:p>
        </p:txBody>
      </p:sp>
      <p:sp>
        <p:nvSpPr>
          <p:cNvPr id="9" name="Objective card 2"/>
          <p:cNvSpPr/>
          <p:nvPr/>
        </p:nvSpPr>
        <p:spPr>
          <a:xfrm>
            <a:off x="6217920" y="1371600"/>
            <a:ext cx="5532120" cy="3108960"/>
          </a:xfrm>
          <a:prstGeom prst="roundRect">
            <a:avLst>
              <a:gd name="adj" fmla="val 7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bjective number 2"/>
          <p:cNvSpPr/>
          <p:nvPr/>
        </p:nvSpPr>
        <p:spPr>
          <a:xfrm>
            <a:off x="6492240" y="1645920"/>
            <a:ext cx="731520" cy="73152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800" b="1" i="0">
                <a:solidFill>
                  <a:srgbClr val="FFFFFF"/>
                </a:solidFill>
              </a:rPr>
              <a:t>2</a:t>
            </a:r>
          </a:p>
        </p:txBody>
      </p:sp>
      <p:sp>
        <p:nvSpPr>
          <p:cNvPr id="11" name="TextBox 10"/>
          <p:cNvSpPr txBox="1"/>
          <p:nvPr/>
        </p:nvSpPr>
        <p:spPr>
          <a:xfrm>
            <a:off x="7406640" y="1645920"/>
            <a:ext cx="4069079" cy="731520"/>
          </a:xfrm>
          <a:prstGeom prst="rect">
            <a:avLst/>
          </a:prstGeom>
          <a:noFill/>
        </p:spPr>
        <p:txBody>
          <a:bodyPr wrap="square" lIns="0" tIns="0" rIns="0" bIns="0" anchor="ctr">
            <a:spAutoFit/>
          </a:bodyPr>
          <a:lstStyle/>
          <a:p>
            <a:pPr algn="l"/>
            <a:r>
              <a:rPr sz="2200" b="1" i="0">
                <a:solidFill>
                  <a:srgbClr val="0E2841"/>
                </a:solidFill>
              </a:rPr>
              <a:t>Deploy a prediction app</a:t>
            </a:r>
          </a:p>
        </p:txBody>
      </p:sp>
      <p:sp>
        <p:nvSpPr>
          <p:cNvPr id="12" name="TextBox 11"/>
          <p:cNvSpPr txBox="1"/>
          <p:nvPr/>
        </p:nvSpPr>
        <p:spPr>
          <a:xfrm>
            <a:off x="6492240" y="2651760"/>
            <a:ext cx="4983480" cy="1737360"/>
          </a:xfrm>
          <a:prstGeom prst="rect">
            <a:avLst/>
          </a:prstGeom>
          <a:noFill/>
        </p:spPr>
        <p:txBody>
          <a:bodyPr wrap="square" lIns="0" tIns="0" rIns="0" bIns="0" anchor="t">
            <a:spAutoFit/>
          </a:bodyPr>
          <a:lstStyle/>
          <a:p>
            <a:pPr algn="l"/>
            <a:r>
              <a:rPr sz="1600" b="0" i="0">
                <a:solidFill>
                  <a:srgbClr val="1F2A37"/>
                </a:solidFill>
              </a:rPr>
              <a:t>Integrate the best model into a web and Android app that returns an instant diabetes prediction from user-entered features, with SHAP to explain which features drive each result.</a:t>
            </a:r>
          </a:p>
        </p:txBody>
      </p:sp>
      <p:sp>
        <p:nvSpPr>
          <p:cNvPr id="13" name="Goal banner"/>
          <p:cNvSpPr/>
          <p:nvPr/>
        </p:nvSpPr>
        <p:spPr>
          <a:xfrm>
            <a:off x="438912" y="4754880"/>
            <a:ext cx="11311128" cy="777240"/>
          </a:xfrm>
          <a:prstGeom prst="roundRect">
            <a:avLst>
              <a:gd name="adj" fmla="val 7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91440" rIns="274320" bIns="91440" rtlCol="0" anchor="ctr"/>
          <a:lstStyle/>
          <a:p>
            <a:pPr algn="l"/>
            <a:r>
              <a:rPr sz="1600" b="1" i="0">
                <a:solidFill>
                  <a:srgbClr val="FFFFFF"/>
                </a:solidFill>
              </a:rPr>
              <a:t>Goal: support early detection of diabetes with an accurate, explainable and easily accessible prediction tool</a:t>
            </a:r>
          </a:p>
        </p:txBody>
      </p:sp>
    </p:spTree>
    <p:extLst>
      <p:ext uri="{BB962C8B-B14F-4D97-AF65-F5344CB8AC3E}">
        <p14:creationId xmlns:p14="http://schemas.microsoft.com/office/powerpoint/2010/main" val="2561287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28808-708B-1F84-A832-60E5B6B7B35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36E10C1-DB65-56E3-4F0F-03211818396F}"/>
              </a:ext>
            </a:extLst>
          </p:cNvPr>
          <p:cNvSpPr>
            <a:spLocks noGrp="1"/>
          </p:cNvSpPr>
          <p:nvPr>
            <p:ph type="title"/>
          </p:nvPr>
        </p:nvSpPr>
        <p:spPr/>
        <p:txBody>
          <a:bodyPr/>
          <a:lstStyle/>
          <a:p>
            <a:r>
              <a:rPr lang="en-US" dirty="0"/>
              <a:t>Data set</a:t>
            </a:r>
            <a:endParaRPr lang="en-IN" dirty="0"/>
          </a:p>
        </p:txBody>
      </p:sp>
      <p:sp>
        <p:nvSpPr>
          <p:cNvPr id="5" name="Stat 768"/>
          <p:cNvSpPr/>
          <p:nvPr/>
        </p:nvSpPr>
        <p:spPr>
          <a:xfrm>
            <a:off x="438912" y="1280160"/>
            <a:ext cx="3621024" cy="1280160"/>
          </a:xfrm>
          <a:prstGeom prst="roundRect">
            <a:avLst>
              <a:gd name="adj" fmla="val 7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73152" rIns="182880" bIns="73152" rtlCol="0" anchor="t"/>
          <a:lstStyle/>
          <a:p>
            <a:pPr algn="l">
              <a:spcAft>
                <a:spcPts val="0"/>
              </a:spcAft>
            </a:pPr>
            <a:r>
              <a:rPr sz="3400" b="1" i="0">
                <a:solidFill>
                  <a:srgbClr val="156082"/>
                </a:solidFill>
              </a:rPr>
              <a:t>768</a:t>
            </a:r>
          </a:p>
          <a:p>
            <a:pPr algn="l"/>
            <a:r>
              <a:rPr sz="1400" b="0" i="0">
                <a:solidFill>
                  <a:srgbClr val="1F2A37"/>
                </a:solidFill>
              </a:rPr>
              <a:t>Pima Indians records, 268 diabetic (35%)</a:t>
            </a:r>
          </a:p>
        </p:txBody>
      </p:sp>
      <p:sp>
        <p:nvSpPr>
          <p:cNvPr id="6" name="Stat 300"/>
          <p:cNvSpPr/>
          <p:nvPr/>
        </p:nvSpPr>
        <p:spPr>
          <a:xfrm>
            <a:off x="4283964" y="1280160"/>
            <a:ext cx="3621024" cy="1280160"/>
          </a:xfrm>
          <a:prstGeom prst="roundRect">
            <a:avLst>
              <a:gd name="adj" fmla="val 7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73152" rIns="182880" bIns="73152" rtlCol="0" anchor="t"/>
          <a:lstStyle/>
          <a:p>
            <a:pPr algn="l">
              <a:spcAft>
                <a:spcPts val="0"/>
              </a:spcAft>
            </a:pPr>
            <a:r>
              <a:rPr sz="3400" b="1" i="0">
                <a:solidFill>
                  <a:srgbClr val="156082"/>
                </a:solidFill>
              </a:rPr>
              <a:t>300</a:t>
            </a:r>
          </a:p>
          <a:p>
            <a:pPr algn="l"/>
            <a:r>
              <a:rPr sz="1400" b="0" i="0">
                <a:solidFill>
                  <a:srgbClr val="1F2A37"/>
                </a:solidFill>
              </a:rPr>
              <a:t>Private samples from hospitals in Saudi Arabia and Egypt (2022–23)</a:t>
            </a:r>
          </a:p>
        </p:txBody>
      </p:sp>
      <p:sp>
        <p:nvSpPr>
          <p:cNvPr id="7" name="Stat 1,068"/>
          <p:cNvSpPr/>
          <p:nvPr/>
        </p:nvSpPr>
        <p:spPr>
          <a:xfrm>
            <a:off x="8129016" y="1280160"/>
            <a:ext cx="3621024" cy="1280160"/>
          </a:xfrm>
          <a:prstGeom prst="roundRect">
            <a:avLst>
              <a:gd name="adj" fmla="val 7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73152" rIns="182880" bIns="73152" rtlCol="0" anchor="t"/>
          <a:lstStyle/>
          <a:p>
            <a:pPr algn="l">
              <a:spcAft>
                <a:spcPts val="0"/>
              </a:spcAft>
            </a:pPr>
            <a:r>
              <a:rPr sz="3400" b="1" i="0">
                <a:solidFill>
                  <a:srgbClr val="156082"/>
                </a:solidFill>
              </a:rPr>
              <a:t>1,068</a:t>
            </a:r>
          </a:p>
          <a:p>
            <a:pPr algn="l"/>
            <a:r>
              <a:rPr sz="1400" b="0" i="0">
                <a:solidFill>
                  <a:srgbClr val="1F2A37"/>
                </a:solidFill>
              </a:rPr>
              <a:t>Combined data: 498 diabetic and 570 non-diabetic</a:t>
            </a:r>
          </a:p>
        </p:txBody>
      </p:sp>
      <p:sp>
        <p:nvSpPr>
          <p:cNvPr id="8" name="Features heading"/>
          <p:cNvSpPr txBox="1"/>
          <p:nvPr/>
        </p:nvSpPr>
        <p:spPr>
          <a:xfrm>
            <a:off x="438912" y="2788920"/>
            <a:ext cx="5532120" cy="365760"/>
          </a:xfrm>
          <a:prstGeom prst="rect">
            <a:avLst/>
          </a:prstGeom>
          <a:noFill/>
        </p:spPr>
        <p:txBody>
          <a:bodyPr wrap="square" lIns="0" tIns="0" rIns="0" bIns="0" anchor="t">
            <a:spAutoFit/>
          </a:bodyPr>
          <a:lstStyle/>
          <a:p>
            <a:pPr algn="l"/>
            <a:r>
              <a:rPr sz="1800" b="1" i="0">
                <a:solidFill>
                  <a:srgbClr val="0E2841"/>
                </a:solidFill>
              </a:rPr>
              <a:t>8 input features</a:t>
            </a:r>
          </a:p>
        </p:txBody>
      </p:sp>
      <p:sp>
        <p:nvSpPr>
          <p:cNvPr id="9" name="Feature chip Age"/>
          <p:cNvSpPr/>
          <p:nvPr/>
        </p:nvSpPr>
        <p:spPr>
          <a:xfrm>
            <a:off x="438912" y="3246120"/>
            <a:ext cx="2715768" cy="411480"/>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0" i="0">
                <a:solidFill>
                  <a:srgbClr val="0E2841"/>
                </a:solidFill>
              </a:rPr>
              <a:t>Age</a:t>
            </a:r>
          </a:p>
        </p:txBody>
      </p:sp>
      <p:sp>
        <p:nvSpPr>
          <p:cNvPr id="10" name="Feature chip Glucose"/>
          <p:cNvSpPr/>
          <p:nvPr/>
        </p:nvSpPr>
        <p:spPr>
          <a:xfrm>
            <a:off x="3255264" y="3246120"/>
            <a:ext cx="2715768" cy="411480"/>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0" i="0">
                <a:solidFill>
                  <a:srgbClr val="0E2841"/>
                </a:solidFill>
              </a:rPr>
              <a:t>Glucose</a:t>
            </a:r>
          </a:p>
        </p:txBody>
      </p:sp>
      <p:sp>
        <p:nvSpPr>
          <p:cNvPr id="11" name="Feature chip Insulin"/>
          <p:cNvSpPr/>
          <p:nvPr/>
        </p:nvSpPr>
        <p:spPr>
          <a:xfrm>
            <a:off x="438912" y="3749039"/>
            <a:ext cx="2715768" cy="411480"/>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0" i="0">
                <a:solidFill>
                  <a:srgbClr val="0E2841"/>
                </a:solidFill>
              </a:rPr>
              <a:t>Insulin</a:t>
            </a:r>
          </a:p>
        </p:txBody>
      </p:sp>
      <p:sp>
        <p:nvSpPr>
          <p:cNvPr id="12" name="Feature chip Blood pressure"/>
          <p:cNvSpPr/>
          <p:nvPr/>
        </p:nvSpPr>
        <p:spPr>
          <a:xfrm>
            <a:off x="3255264" y="3749039"/>
            <a:ext cx="2715768" cy="411480"/>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0" i="0">
                <a:solidFill>
                  <a:srgbClr val="0E2841"/>
                </a:solidFill>
              </a:rPr>
              <a:t>Blood pressure</a:t>
            </a:r>
          </a:p>
        </p:txBody>
      </p:sp>
      <p:sp>
        <p:nvSpPr>
          <p:cNvPr id="13" name="Feature chip Pregnancies"/>
          <p:cNvSpPr/>
          <p:nvPr/>
        </p:nvSpPr>
        <p:spPr>
          <a:xfrm>
            <a:off x="438912" y="4251960"/>
            <a:ext cx="2715768" cy="411480"/>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0" i="0">
                <a:solidFill>
                  <a:srgbClr val="0E2841"/>
                </a:solidFill>
              </a:rPr>
              <a:t>Pregnancies</a:t>
            </a:r>
          </a:p>
        </p:txBody>
      </p:sp>
      <p:sp>
        <p:nvSpPr>
          <p:cNvPr id="14" name="Feature chip Skin thickness"/>
          <p:cNvSpPr/>
          <p:nvPr/>
        </p:nvSpPr>
        <p:spPr>
          <a:xfrm>
            <a:off x="3255264" y="4251960"/>
            <a:ext cx="2715768" cy="411480"/>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0" i="0">
                <a:solidFill>
                  <a:srgbClr val="0E2841"/>
                </a:solidFill>
              </a:rPr>
              <a:t>Skin thickness</a:t>
            </a:r>
          </a:p>
        </p:txBody>
      </p:sp>
      <p:sp>
        <p:nvSpPr>
          <p:cNvPr id="15" name="Feature chip BMI"/>
          <p:cNvSpPr/>
          <p:nvPr/>
        </p:nvSpPr>
        <p:spPr>
          <a:xfrm>
            <a:off x="438912" y="4754880"/>
            <a:ext cx="2715768" cy="411480"/>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0" i="0">
                <a:solidFill>
                  <a:srgbClr val="0E2841"/>
                </a:solidFill>
              </a:rPr>
              <a:t>BMI</a:t>
            </a:r>
          </a:p>
        </p:txBody>
      </p:sp>
      <p:sp>
        <p:nvSpPr>
          <p:cNvPr id="16" name="Feature chip Pedigree function"/>
          <p:cNvSpPr/>
          <p:nvPr/>
        </p:nvSpPr>
        <p:spPr>
          <a:xfrm>
            <a:off x="3255264" y="4754880"/>
            <a:ext cx="2715768" cy="411480"/>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0" i="0">
                <a:solidFill>
                  <a:srgbClr val="0E2841"/>
                </a:solidFill>
              </a:rPr>
              <a:t>Pedigree function</a:t>
            </a:r>
          </a:p>
        </p:txBody>
      </p:sp>
      <p:sp>
        <p:nvSpPr>
          <p:cNvPr id="17" name="Target note"/>
          <p:cNvSpPr txBox="1"/>
          <p:nvPr/>
        </p:nvSpPr>
        <p:spPr>
          <a:xfrm>
            <a:off x="438912" y="5303520"/>
            <a:ext cx="5532120" cy="365760"/>
          </a:xfrm>
          <a:prstGeom prst="rect">
            <a:avLst/>
          </a:prstGeom>
          <a:noFill/>
        </p:spPr>
        <p:txBody>
          <a:bodyPr wrap="square" lIns="0" tIns="0" rIns="0" bIns="0" anchor="t">
            <a:spAutoFit/>
          </a:bodyPr>
          <a:lstStyle/>
          <a:p>
            <a:pPr algn="l"/>
            <a:r>
              <a:rPr sz="1400" b="1" i="0">
                <a:solidFill>
                  <a:srgbClr val="1F2A37"/>
                </a:solidFill>
              </a:rPr>
              <a:t>Target: </a:t>
            </a:r>
            <a:r>
              <a:rPr sz="1400" b="0" i="0">
                <a:solidFill>
                  <a:srgbClr val="1F2A37"/>
                </a:solidFill>
              </a:rPr>
              <a:t>Outcome (0 = no diabetes, 1 = diabetes)</a:t>
            </a:r>
          </a:p>
        </p:txBody>
      </p:sp>
      <p:graphicFrame>
        <p:nvGraphicFramePr>
          <p:cNvPr id="18" name="Class split chart"/>
          <p:cNvGraphicFramePr>
            <a:graphicFrameLocks noGrp="1"/>
          </p:cNvGraphicFramePr>
          <p:nvPr/>
        </p:nvGraphicFramePr>
        <p:xfrm>
          <a:off x="6217920" y="2743200"/>
          <a:ext cx="5532120" cy="2514600"/>
        </p:xfrm>
        <a:graphic>
          <a:graphicData uri="http://schemas.openxmlformats.org/drawingml/2006/chart">
            <c:chart xmlns:c="http://schemas.openxmlformats.org/drawingml/2006/chart" xmlns:r="http://schemas.openxmlformats.org/officeDocument/2006/relationships" r:id="rId2"/>
          </a:graphicData>
        </a:graphic>
      </p:graphicFrame>
      <p:sp>
        <p:nvSpPr>
          <p:cNvPr id="19" name="Source note"/>
          <p:cNvSpPr txBox="1"/>
          <p:nvPr/>
        </p:nvSpPr>
        <p:spPr>
          <a:xfrm>
            <a:off x="6217920" y="5303520"/>
            <a:ext cx="5532120" cy="365760"/>
          </a:xfrm>
          <a:prstGeom prst="rect">
            <a:avLst/>
          </a:prstGeom>
          <a:noFill/>
        </p:spPr>
        <p:txBody>
          <a:bodyPr wrap="square" lIns="0" tIns="0" rIns="0" bIns="0" anchor="t">
            <a:spAutoFit/>
          </a:bodyPr>
          <a:lstStyle/>
          <a:p>
            <a:pPr algn="l"/>
            <a:r>
              <a:rPr sz="1400" b="0" i="0">
                <a:solidFill>
                  <a:srgbClr val="1F2A37"/>
                </a:solidFill>
              </a:rPr>
              <a:t>Pima: public (NIDDK). Private set: available from the authors on request.</a:t>
            </a:r>
          </a:p>
        </p:txBody>
      </p:sp>
    </p:spTree>
    <p:extLst>
      <p:ext uri="{BB962C8B-B14F-4D97-AF65-F5344CB8AC3E}">
        <p14:creationId xmlns:p14="http://schemas.microsoft.com/office/powerpoint/2010/main" val="1369502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F2CDE-A7D6-B89F-8056-9893987EB5BD}"/>
              </a:ext>
            </a:extLst>
          </p:cNvPr>
          <p:cNvSpPr>
            <a:spLocks noGrp="1"/>
          </p:cNvSpPr>
          <p:nvPr>
            <p:ph type="title"/>
          </p:nvPr>
        </p:nvSpPr>
        <p:spPr/>
        <p:txBody>
          <a:bodyPr/>
          <a:lstStyle/>
          <a:p>
            <a:r>
              <a:rPr lang="en-US" dirty="0"/>
              <a:t>Methods</a:t>
            </a:r>
            <a:endParaRPr lang="en-IN" dirty="0"/>
          </a:p>
        </p:txBody>
      </p:sp>
      <p:sp>
        <p:nvSpPr>
          <p:cNvPr id="3" name="Step card 1"/>
          <p:cNvSpPr/>
          <p:nvPr/>
        </p:nvSpPr>
        <p:spPr>
          <a:xfrm>
            <a:off x="438912" y="1325880"/>
            <a:ext cx="2103120" cy="2697480"/>
          </a:xfrm>
          <a:prstGeom prst="roundRect">
            <a:avLst>
              <a:gd name="adj" fmla="val 7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tep number 1"/>
          <p:cNvSpPr/>
          <p:nvPr/>
        </p:nvSpPr>
        <p:spPr>
          <a:xfrm>
            <a:off x="621792" y="1508760"/>
            <a:ext cx="457200" cy="45720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rPr>
              <a:t>1</a:t>
            </a:r>
          </a:p>
        </p:txBody>
      </p:sp>
      <p:sp>
        <p:nvSpPr>
          <p:cNvPr id="5" name="Step title 1"/>
          <p:cNvSpPr txBox="1"/>
          <p:nvPr/>
        </p:nvSpPr>
        <p:spPr>
          <a:xfrm>
            <a:off x="621792" y="2103120"/>
            <a:ext cx="1783080" cy="548640"/>
          </a:xfrm>
          <a:prstGeom prst="rect">
            <a:avLst/>
          </a:prstGeom>
          <a:noFill/>
        </p:spPr>
        <p:txBody>
          <a:bodyPr wrap="square" lIns="0" tIns="0" rIns="0" bIns="0" anchor="t">
            <a:spAutoFit/>
          </a:bodyPr>
          <a:lstStyle/>
          <a:p>
            <a:pPr algn="l"/>
            <a:r>
              <a:rPr sz="1600" b="1" i="0">
                <a:solidFill>
                  <a:srgbClr val="0E2841"/>
                </a:solidFill>
              </a:rPr>
              <a:t>Collect</a:t>
            </a:r>
          </a:p>
        </p:txBody>
      </p:sp>
      <p:sp>
        <p:nvSpPr>
          <p:cNvPr id="6" name="Step text 1"/>
          <p:cNvSpPr txBox="1"/>
          <p:nvPr/>
        </p:nvSpPr>
        <p:spPr>
          <a:xfrm>
            <a:off x="621792" y="2697480"/>
            <a:ext cx="1783080" cy="1188720"/>
          </a:xfrm>
          <a:prstGeom prst="rect">
            <a:avLst/>
          </a:prstGeom>
          <a:noFill/>
        </p:spPr>
        <p:txBody>
          <a:bodyPr wrap="square" lIns="0" tIns="0" rIns="0" bIns="0" anchor="t">
            <a:spAutoFit/>
          </a:bodyPr>
          <a:lstStyle/>
          <a:p>
            <a:pPr algn="l"/>
            <a:r>
              <a:rPr sz="1400" b="0" i="0">
                <a:solidFill>
                  <a:srgbClr val="1F2A37"/>
                </a:solidFill>
              </a:rPr>
              <a:t>Merge Pima Indians and private data (1,068 records)</a:t>
            </a:r>
          </a:p>
        </p:txBody>
      </p:sp>
      <p:sp>
        <p:nvSpPr>
          <p:cNvPr id="7" name="Step card 2"/>
          <p:cNvSpPr/>
          <p:nvPr/>
        </p:nvSpPr>
        <p:spPr>
          <a:xfrm>
            <a:off x="2743200" y="1325880"/>
            <a:ext cx="2103120" cy="2697480"/>
          </a:xfrm>
          <a:prstGeom prst="roundRect">
            <a:avLst>
              <a:gd name="adj" fmla="val 7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tep number 2"/>
          <p:cNvSpPr/>
          <p:nvPr/>
        </p:nvSpPr>
        <p:spPr>
          <a:xfrm>
            <a:off x="2926080" y="1508760"/>
            <a:ext cx="457200" cy="45720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rPr>
              <a:t>2</a:t>
            </a:r>
          </a:p>
        </p:txBody>
      </p:sp>
      <p:sp>
        <p:nvSpPr>
          <p:cNvPr id="9" name="Step title 2"/>
          <p:cNvSpPr txBox="1"/>
          <p:nvPr/>
        </p:nvSpPr>
        <p:spPr>
          <a:xfrm>
            <a:off x="2926080" y="2103120"/>
            <a:ext cx="1783080" cy="548640"/>
          </a:xfrm>
          <a:prstGeom prst="rect">
            <a:avLst/>
          </a:prstGeom>
          <a:noFill/>
        </p:spPr>
        <p:txBody>
          <a:bodyPr wrap="square" lIns="0" tIns="0" rIns="0" bIns="0" anchor="t">
            <a:spAutoFit/>
          </a:bodyPr>
          <a:lstStyle/>
          <a:p>
            <a:pPr algn="l"/>
            <a:r>
              <a:rPr sz="1600" b="1" i="0">
                <a:solidFill>
                  <a:srgbClr val="0E2841"/>
                </a:solidFill>
              </a:rPr>
              <a:t>Pre-process</a:t>
            </a:r>
          </a:p>
        </p:txBody>
      </p:sp>
      <p:sp>
        <p:nvSpPr>
          <p:cNvPr id="10" name="Step text 2"/>
          <p:cNvSpPr txBox="1"/>
          <p:nvPr/>
        </p:nvSpPr>
        <p:spPr>
          <a:xfrm>
            <a:off x="2926080" y="2697480"/>
            <a:ext cx="1783080" cy="1188720"/>
          </a:xfrm>
          <a:prstGeom prst="rect">
            <a:avLst/>
          </a:prstGeom>
          <a:noFill/>
        </p:spPr>
        <p:txBody>
          <a:bodyPr wrap="square" lIns="0" tIns="0" rIns="0" bIns="0" anchor="t">
            <a:spAutoFit/>
          </a:bodyPr>
          <a:lstStyle/>
          <a:p>
            <a:pPr algn="l"/>
            <a:r>
              <a:rPr sz="1400" b="0" i="0">
                <a:solidFill>
                  <a:srgbClr val="1F2A37"/>
                </a:solidFill>
              </a:rPr>
              <a:t>Mean-fill zero values, drop SkinThickness, min–max scale, 75/25 split</a:t>
            </a:r>
          </a:p>
        </p:txBody>
      </p:sp>
      <p:sp>
        <p:nvSpPr>
          <p:cNvPr id="11" name="Step card 3"/>
          <p:cNvSpPr/>
          <p:nvPr/>
        </p:nvSpPr>
        <p:spPr>
          <a:xfrm>
            <a:off x="5047488" y="1325880"/>
            <a:ext cx="2103120" cy="2697480"/>
          </a:xfrm>
          <a:prstGeom prst="roundRect">
            <a:avLst>
              <a:gd name="adj" fmla="val 7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tep number 3"/>
          <p:cNvSpPr/>
          <p:nvPr/>
        </p:nvSpPr>
        <p:spPr>
          <a:xfrm>
            <a:off x="5230368" y="1508760"/>
            <a:ext cx="457200" cy="45720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rPr>
              <a:t>3</a:t>
            </a:r>
          </a:p>
        </p:txBody>
      </p:sp>
      <p:sp>
        <p:nvSpPr>
          <p:cNvPr id="13" name="Step title 3"/>
          <p:cNvSpPr txBox="1"/>
          <p:nvPr/>
        </p:nvSpPr>
        <p:spPr>
          <a:xfrm>
            <a:off x="5230368" y="2103120"/>
            <a:ext cx="1783080" cy="548640"/>
          </a:xfrm>
          <a:prstGeom prst="rect">
            <a:avLst/>
          </a:prstGeom>
          <a:noFill/>
        </p:spPr>
        <p:txBody>
          <a:bodyPr wrap="square" lIns="0" tIns="0" rIns="0" bIns="0" anchor="t">
            <a:spAutoFit/>
          </a:bodyPr>
          <a:lstStyle/>
          <a:p>
            <a:pPr algn="l"/>
            <a:r>
              <a:rPr sz="1600" b="1" i="0">
                <a:solidFill>
                  <a:srgbClr val="0E2841"/>
                </a:solidFill>
              </a:rPr>
              <a:t>Balance</a:t>
            </a:r>
          </a:p>
        </p:txBody>
      </p:sp>
      <p:sp>
        <p:nvSpPr>
          <p:cNvPr id="14" name="Step text 3"/>
          <p:cNvSpPr txBox="1"/>
          <p:nvPr/>
        </p:nvSpPr>
        <p:spPr>
          <a:xfrm>
            <a:off x="5230368" y="2697480"/>
            <a:ext cx="1783080" cy="1188720"/>
          </a:xfrm>
          <a:prstGeom prst="rect">
            <a:avLst/>
          </a:prstGeom>
          <a:noFill/>
        </p:spPr>
        <p:txBody>
          <a:bodyPr wrap="square" lIns="0" tIns="0" rIns="0" bIns="0" anchor="t">
            <a:spAutoFit/>
          </a:bodyPr>
          <a:lstStyle/>
          <a:p>
            <a:pPr algn="l"/>
            <a:r>
              <a:rPr sz="1400" b="0" i="0">
                <a:solidFill>
                  <a:srgbClr val="1F2A37"/>
                </a:solidFill>
              </a:rPr>
              <a:t>SMOTE on the training set only; test set left unchanged</a:t>
            </a:r>
          </a:p>
        </p:txBody>
      </p:sp>
      <p:sp>
        <p:nvSpPr>
          <p:cNvPr id="15" name="Step card 4"/>
          <p:cNvSpPr/>
          <p:nvPr/>
        </p:nvSpPr>
        <p:spPr>
          <a:xfrm>
            <a:off x="7351776" y="1325880"/>
            <a:ext cx="2103120" cy="2697480"/>
          </a:xfrm>
          <a:prstGeom prst="roundRect">
            <a:avLst>
              <a:gd name="adj" fmla="val 7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tep number 4"/>
          <p:cNvSpPr/>
          <p:nvPr/>
        </p:nvSpPr>
        <p:spPr>
          <a:xfrm>
            <a:off x="7534656" y="1508760"/>
            <a:ext cx="457200" cy="45720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rPr>
              <a:t>4</a:t>
            </a:r>
          </a:p>
        </p:txBody>
      </p:sp>
      <p:sp>
        <p:nvSpPr>
          <p:cNvPr id="17" name="Step title 4"/>
          <p:cNvSpPr txBox="1"/>
          <p:nvPr/>
        </p:nvSpPr>
        <p:spPr>
          <a:xfrm>
            <a:off x="7534656" y="2103120"/>
            <a:ext cx="1783080" cy="548640"/>
          </a:xfrm>
          <a:prstGeom prst="rect">
            <a:avLst/>
          </a:prstGeom>
          <a:noFill/>
        </p:spPr>
        <p:txBody>
          <a:bodyPr wrap="square" lIns="0" tIns="0" rIns="0" bIns="0" anchor="t">
            <a:spAutoFit/>
          </a:bodyPr>
          <a:lstStyle/>
          <a:p>
            <a:pPr algn="l"/>
            <a:r>
              <a:rPr sz="1600" b="1" i="0">
                <a:solidFill>
                  <a:srgbClr val="0E2841"/>
                </a:solidFill>
              </a:rPr>
              <a:t>Train and tune</a:t>
            </a:r>
          </a:p>
        </p:txBody>
      </p:sp>
      <p:sp>
        <p:nvSpPr>
          <p:cNvPr id="18" name="Step text 4"/>
          <p:cNvSpPr txBox="1"/>
          <p:nvPr/>
        </p:nvSpPr>
        <p:spPr>
          <a:xfrm>
            <a:off x="7534656" y="2697480"/>
            <a:ext cx="1783080" cy="1188720"/>
          </a:xfrm>
          <a:prstGeom prst="rect">
            <a:avLst/>
          </a:prstGeom>
          <a:noFill/>
        </p:spPr>
        <p:txBody>
          <a:bodyPr wrap="square" lIns="0" tIns="0" rIns="0" bIns="0" anchor="t">
            <a:spAutoFit/>
          </a:bodyPr>
          <a:lstStyle/>
          <a:p>
            <a:pPr algn="l"/>
            <a:r>
              <a:rPr sz="1400" b="0" i="0">
                <a:solidFill>
                  <a:srgbClr val="1F2A37"/>
                </a:solidFill>
              </a:rPr>
              <a:t>10 classifiers with GridSearchCV hyper-parameters</a:t>
            </a:r>
          </a:p>
        </p:txBody>
      </p:sp>
      <p:sp>
        <p:nvSpPr>
          <p:cNvPr id="19" name="Step card 5"/>
          <p:cNvSpPr/>
          <p:nvPr/>
        </p:nvSpPr>
        <p:spPr>
          <a:xfrm>
            <a:off x="9656064" y="1325880"/>
            <a:ext cx="2103120" cy="2697480"/>
          </a:xfrm>
          <a:prstGeom prst="roundRect">
            <a:avLst>
              <a:gd name="adj" fmla="val 7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Step number 5"/>
          <p:cNvSpPr/>
          <p:nvPr/>
        </p:nvSpPr>
        <p:spPr>
          <a:xfrm>
            <a:off x="9838944" y="1508760"/>
            <a:ext cx="457200" cy="45720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rPr>
              <a:t>5</a:t>
            </a:r>
          </a:p>
        </p:txBody>
      </p:sp>
      <p:sp>
        <p:nvSpPr>
          <p:cNvPr id="21" name="Step title 5"/>
          <p:cNvSpPr txBox="1"/>
          <p:nvPr/>
        </p:nvSpPr>
        <p:spPr>
          <a:xfrm>
            <a:off x="9838944" y="2103120"/>
            <a:ext cx="1783080" cy="548640"/>
          </a:xfrm>
          <a:prstGeom prst="rect">
            <a:avLst/>
          </a:prstGeom>
          <a:noFill/>
        </p:spPr>
        <p:txBody>
          <a:bodyPr wrap="square" lIns="0" tIns="0" rIns="0" bIns="0" anchor="t">
            <a:spAutoFit/>
          </a:bodyPr>
          <a:lstStyle/>
          <a:p>
            <a:pPr algn="l"/>
            <a:r>
              <a:rPr sz="1600" b="1" i="0">
                <a:solidFill>
                  <a:srgbClr val="0E2841"/>
                </a:solidFill>
              </a:rPr>
              <a:t>Evaluate and explain</a:t>
            </a:r>
          </a:p>
        </p:txBody>
      </p:sp>
      <p:sp>
        <p:nvSpPr>
          <p:cNvPr id="22" name="Step text 5"/>
          <p:cNvSpPr txBox="1"/>
          <p:nvPr/>
        </p:nvSpPr>
        <p:spPr>
          <a:xfrm>
            <a:off x="9838944" y="2697480"/>
            <a:ext cx="1783080" cy="1188720"/>
          </a:xfrm>
          <a:prstGeom prst="rect">
            <a:avLst/>
          </a:prstGeom>
          <a:noFill/>
        </p:spPr>
        <p:txBody>
          <a:bodyPr wrap="square" lIns="0" tIns="0" rIns="0" bIns="0" anchor="t">
            <a:spAutoFit/>
          </a:bodyPr>
          <a:lstStyle/>
          <a:p>
            <a:pPr algn="l"/>
            <a:r>
              <a:rPr sz="1400" b="0" i="0">
                <a:solidFill>
                  <a:srgbClr val="1F2A37"/>
                </a:solidFill>
              </a:rPr>
              <a:t>Accuracy, precision, recall, F1, AUC and SHAP</a:t>
            </a:r>
          </a:p>
        </p:txBody>
      </p:sp>
      <p:sp>
        <p:nvSpPr>
          <p:cNvPr id="23" name="Classifier heading"/>
          <p:cNvSpPr txBox="1"/>
          <p:nvPr/>
        </p:nvSpPr>
        <p:spPr>
          <a:xfrm>
            <a:off x="438912" y="4160520"/>
            <a:ext cx="5486400" cy="365760"/>
          </a:xfrm>
          <a:prstGeom prst="rect">
            <a:avLst/>
          </a:prstGeom>
          <a:noFill/>
        </p:spPr>
        <p:txBody>
          <a:bodyPr wrap="square" lIns="0" tIns="0" rIns="0" bIns="0" anchor="t">
            <a:spAutoFit/>
          </a:bodyPr>
          <a:lstStyle/>
          <a:p>
            <a:pPr algn="l"/>
            <a:r>
              <a:rPr sz="1800" b="1" i="0">
                <a:solidFill>
                  <a:srgbClr val="0E2841"/>
                </a:solidFill>
              </a:rPr>
              <a:t>10 classifiers compared</a:t>
            </a:r>
          </a:p>
        </p:txBody>
      </p:sp>
      <p:sp>
        <p:nvSpPr>
          <p:cNvPr id="24" name="Domain adaptation note"/>
          <p:cNvSpPr txBox="1"/>
          <p:nvPr/>
        </p:nvSpPr>
        <p:spPr>
          <a:xfrm>
            <a:off x="6309360" y="4206240"/>
            <a:ext cx="5440680" cy="365760"/>
          </a:xfrm>
          <a:prstGeom prst="rect">
            <a:avLst/>
          </a:prstGeom>
          <a:noFill/>
        </p:spPr>
        <p:txBody>
          <a:bodyPr wrap="square" lIns="0" tIns="0" rIns="0" bIns="0" anchor="t">
            <a:spAutoFit/>
          </a:bodyPr>
          <a:lstStyle/>
          <a:p>
            <a:pPr algn="l"/>
            <a:r>
              <a:rPr sz="1400" b="0" i="1">
                <a:solidFill>
                  <a:srgbClr val="156082"/>
                </a:solidFill>
              </a:rPr>
              <a:t>Domain adaptation: train on Pima, test on private data</a:t>
            </a:r>
          </a:p>
        </p:txBody>
      </p:sp>
      <p:sp>
        <p:nvSpPr>
          <p:cNvPr id="25" name="Model chip Logistic Regression"/>
          <p:cNvSpPr/>
          <p:nvPr/>
        </p:nvSpPr>
        <p:spPr>
          <a:xfrm>
            <a:off x="438912" y="4617720"/>
            <a:ext cx="2103120" cy="438912"/>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i="0">
                <a:solidFill>
                  <a:srgbClr val="0E2841"/>
                </a:solidFill>
              </a:rPr>
              <a:t>Logistic Regression</a:t>
            </a:r>
          </a:p>
        </p:txBody>
      </p:sp>
      <p:sp>
        <p:nvSpPr>
          <p:cNvPr id="26" name="Model chip Random Forest"/>
          <p:cNvSpPr/>
          <p:nvPr/>
        </p:nvSpPr>
        <p:spPr>
          <a:xfrm>
            <a:off x="2743200" y="4617720"/>
            <a:ext cx="2103120" cy="438912"/>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i="0">
                <a:solidFill>
                  <a:srgbClr val="0E2841"/>
                </a:solidFill>
              </a:rPr>
              <a:t>Random Forest</a:t>
            </a:r>
          </a:p>
        </p:txBody>
      </p:sp>
      <p:sp>
        <p:nvSpPr>
          <p:cNvPr id="27" name="Model chip KNN"/>
          <p:cNvSpPr/>
          <p:nvPr/>
        </p:nvSpPr>
        <p:spPr>
          <a:xfrm>
            <a:off x="5047488" y="4617720"/>
            <a:ext cx="2103120" cy="438912"/>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i="0">
                <a:solidFill>
                  <a:srgbClr val="0E2841"/>
                </a:solidFill>
              </a:rPr>
              <a:t>KNN</a:t>
            </a:r>
          </a:p>
        </p:txBody>
      </p:sp>
      <p:sp>
        <p:nvSpPr>
          <p:cNvPr id="28" name="Model chip Decision Tree"/>
          <p:cNvSpPr/>
          <p:nvPr/>
        </p:nvSpPr>
        <p:spPr>
          <a:xfrm>
            <a:off x="7351776" y="4617720"/>
            <a:ext cx="2103120" cy="438912"/>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i="0">
                <a:solidFill>
                  <a:srgbClr val="0E2841"/>
                </a:solidFill>
              </a:rPr>
              <a:t>Decision Tree</a:t>
            </a:r>
          </a:p>
        </p:txBody>
      </p:sp>
      <p:sp>
        <p:nvSpPr>
          <p:cNvPr id="29" name="Model chip Bagging"/>
          <p:cNvSpPr/>
          <p:nvPr/>
        </p:nvSpPr>
        <p:spPr>
          <a:xfrm>
            <a:off x="9656064" y="4617720"/>
            <a:ext cx="2103120" cy="438912"/>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i="0">
                <a:solidFill>
                  <a:srgbClr val="0E2841"/>
                </a:solidFill>
              </a:rPr>
              <a:t>Bagging</a:t>
            </a:r>
          </a:p>
        </p:txBody>
      </p:sp>
      <p:sp>
        <p:nvSpPr>
          <p:cNvPr id="30" name="Model chip AdaBoost"/>
          <p:cNvSpPr/>
          <p:nvPr/>
        </p:nvSpPr>
        <p:spPr>
          <a:xfrm>
            <a:off x="438912" y="5148072"/>
            <a:ext cx="2103120" cy="438912"/>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i="0">
                <a:solidFill>
                  <a:srgbClr val="0E2841"/>
                </a:solidFill>
              </a:rPr>
              <a:t>AdaBoost</a:t>
            </a:r>
          </a:p>
        </p:txBody>
      </p:sp>
      <p:sp>
        <p:nvSpPr>
          <p:cNvPr id="31" name="Model chip XGBoost"/>
          <p:cNvSpPr/>
          <p:nvPr/>
        </p:nvSpPr>
        <p:spPr>
          <a:xfrm>
            <a:off x="2743200" y="5148072"/>
            <a:ext cx="2103120" cy="438912"/>
          </a:xfrm>
          <a:prstGeom prst="roundRect">
            <a:avLst>
              <a:gd name="adj" fmla="val 7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1" i="0">
                <a:solidFill>
                  <a:srgbClr val="0E2841"/>
                </a:solidFill>
              </a:rPr>
              <a:t>XGBoost</a:t>
            </a:r>
          </a:p>
        </p:txBody>
      </p:sp>
      <p:sp>
        <p:nvSpPr>
          <p:cNvPr id="32" name="Model chip Voting"/>
          <p:cNvSpPr/>
          <p:nvPr/>
        </p:nvSpPr>
        <p:spPr>
          <a:xfrm>
            <a:off x="5047488" y="5148072"/>
            <a:ext cx="2103120" cy="438912"/>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i="0">
                <a:solidFill>
                  <a:srgbClr val="0E2841"/>
                </a:solidFill>
              </a:rPr>
              <a:t>Voting</a:t>
            </a:r>
          </a:p>
        </p:txBody>
      </p:sp>
      <p:sp>
        <p:nvSpPr>
          <p:cNvPr id="33" name="Model chip SVM"/>
          <p:cNvSpPr/>
          <p:nvPr/>
        </p:nvSpPr>
        <p:spPr>
          <a:xfrm>
            <a:off x="7351776" y="5148072"/>
            <a:ext cx="2103120" cy="438912"/>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i="0">
                <a:solidFill>
                  <a:srgbClr val="0E2841"/>
                </a:solidFill>
              </a:rPr>
              <a:t>SVM</a:t>
            </a:r>
          </a:p>
        </p:txBody>
      </p:sp>
      <p:sp>
        <p:nvSpPr>
          <p:cNvPr id="34" name="Model chip Naive Bayes"/>
          <p:cNvSpPr/>
          <p:nvPr/>
        </p:nvSpPr>
        <p:spPr>
          <a:xfrm>
            <a:off x="9656064" y="5148072"/>
            <a:ext cx="2103120" cy="438912"/>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i="0">
                <a:solidFill>
                  <a:srgbClr val="0E2841"/>
                </a:solidFill>
              </a:rPr>
              <a:t>Naive Bayes</a:t>
            </a:r>
          </a:p>
        </p:txBody>
      </p:sp>
    </p:spTree>
    <p:extLst>
      <p:ext uri="{BB962C8B-B14F-4D97-AF65-F5344CB8AC3E}">
        <p14:creationId xmlns:p14="http://schemas.microsoft.com/office/powerpoint/2010/main" val="1844651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0C1C8-62EE-927C-5D7E-81802A63A6A3}"/>
              </a:ext>
            </a:extLst>
          </p:cNvPr>
          <p:cNvSpPr>
            <a:spLocks noGrp="1"/>
          </p:cNvSpPr>
          <p:nvPr>
            <p:ph type="title"/>
          </p:nvPr>
        </p:nvSpPr>
        <p:spPr/>
        <p:txBody>
          <a:bodyPr/>
          <a:lstStyle/>
          <a:p>
            <a:r>
              <a:rPr lang="en-US" dirty="0"/>
              <a:t>Required skills for project</a:t>
            </a:r>
            <a:endParaRPr lang="en-IN" dirty="0"/>
          </a:p>
        </p:txBody>
      </p:sp>
      <p:sp>
        <p:nvSpPr>
          <p:cNvPr id="3" name="Skill card Machine learning"/>
          <p:cNvSpPr/>
          <p:nvPr/>
        </p:nvSpPr>
        <p:spPr>
          <a:xfrm>
            <a:off x="438912" y="1325880"/>
            <a:ext cx="3621024" cy="2011680"/>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Icon circle ml"/>
          <p:cNvSpPr/>
          <p:nvPr/>
        </p:nvSpPr>
        <p:spPr>
          <a:xfrm>
            <a:off x="667512" y="1527048"/>
            <a:ext cx="640080" cy="64008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Icon ml" descr="ml.png"/>
          <p:cNvPicPr>
            <a:picLocks noChangeAspect="1"/>
          </p:cNvPicPr>
          <p:nvPr/>
        </p:nvPicPr>
        <p:blipFill>
          <a:blip r:embed="rId2"/>
          <a:stretch>
            <a:fillRect/>
          </a:stretch>
        </p:blipFill>
        <p:spPr>
          <a:xfrm>
            <a:off x="827532" y="1687068"/>
            <a:ext cx="320040" cy="320040"/>
          </a:xfrm>
          <a:prstGeom prst="rect">
            <a:avLst/>
          </a:prstGeom>
        </p:spPr>
      </p:pic>
      <p:sp>
        <p:nvSpPr>
          <p:cNvPr id="6" name="TextBox 5"/>
          <p:cNvSpPr txBox="1"/>
          <p:nvPr/>
        </p:nvSpPr>
        <p:spPr>
          <a:xfrm>
            <a:off x="1444752" y="1527048"/>
            <a:ext cx="2432304" cy="640080"/>
          </a:xfrm>
          <a:prstGeom prst="rect">
            <a:avLst/>
          </a:prstGeom>
          <a:noFill/>
        </p:spPr>
        <p:txBody>
          <a:bodyPr wrap="square" lIns="0" tIns="0" rIns="0" bIns="0" anchor="ctr">
            <a:spAutoFit/>
          </a:bodyPr>
          <a:lstStyle/>
          <a:p>
            <a:pPr algn="l"/>
            <a:r>
              <a:rPr sz="1800" b="1" i="0">
                <a:solidFill>
                  <a:srgbClr val="0E2841"/>
                </a:solidFill>
              </a:rPr>
              <a:t>Machine learning</a:t>
            </a:r>
          </a:p>
        </p:txBody>
      </p:sp>
      <p:sp>
        <p:nvSpPr>
          <p:cNvPr id="7" name="TextBox 6"/>
          <p:cNvSpPr txBox="1"/>
          <p:nvPr/>
        </p:nvSpPr>
        <p:spPr>
          <a:xfrm>
            <a:off x="667512" y="2286000"/>
            <a:ext cx="3163824" cy="1005840"/>
          </a:xfrm>
          <a:prstGeom prst="rect">
            <a:avLst/>
          </a:prstGeom>
          <a:noFill/>
        </p:spPr>
        <p:txBody>
          <a:bodyPr wrap="square" lIns="0" tIns="0" rIns="0" bIns="0" anchor="t">
            <a:spAutoFit/>
          </a:bodyPr>
          <a:lstStyle/>
          <a:p>
            <a:pPr algn="l"/>
            <a:r>
              <a:rPr sz="1400" b="0" i="0">
                <a:solidFill>
                  <a:srgbClr val="1F2A37"/>
                </a:solidFill>
              </a:rPr>
              <a:t>Python, scikit-learn and XGBoost; classification and ensembles (Bagging, AdaBoost, Voting)</a:t>
            </a:r>
          </a:p>
        </p:txBody>
      </p:sp>
      <p:sp>
        <p:nvSpPr>
          <p:cNvPr id="8" name="Skill card Data preparation"/>
          <p:cNvSpPr/>
          <p:nvPr/>
        </p:nvSpPr>
        <p:spPr>
          <a:xfrm>
            <a:off x="4283964" y="1325880"/>
            <a:ext cx="3621024" cy="2011680"/>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Icon circle prep"/>
          <p:cNvSpPr/>
          <p:nvPr/>
        </p:nvSpPr>
        <p:spPr>
          <a:xfrm>
            <a:off x="4512564" y="1527048"/>
            <a:ext cx="640080" cy="64008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Icon prep" descr="prep.png"/>
          <p:cNvPicPr>
            <a:picLocks noChangeAspect="1"/>
          </p:cNvPicPr>
          <p:nvPr/>
        </p:nvPicPr>
        <p:blipFill>
          <a:blip r:embed="rId3"/>
          <a:stretch>
            <a:fillRect/>
          </a:stretch>
        </p:blipFill>
        <p:spPr>
          <a:xfrm>
            <a:off x="4672584" y="1687068"/>
            <a:ext cx="320040" cy="320040"/>
          </a:xfrm>
          <a:prstGeom prst="rect">
            <a:avLst/>
          </a:prstGeom>
        </p:spPr>
      </p:pic>
      <p:sp>
        <p:nvSpPr>
          <p:cNvPr id="11" name="TextBox 10"/>
          <p:cNvSpPr txBox="1"/>
          <p:nvPr/>
        </p:nvSpPr>
        <p:spPr>
          <a:xfrm>
            <a:off x="5289804" y="1527048"/>
            <a:ext cx="2432304" cy="640080"/>
          </a:xfrm>
          <a:prstGeom prst="rect">
            <a:avLst/>
          </a:prstGeom>
          <a:noFill/>
        </p:spPr>
        <p:txBody>
          <a:bodyPr wrap="square" lIns="0" tIns="0" rIns="0" bIns="0" anchor="ctr">
            <a:spAutoFit/>
          </a:bodyPr>
          <a:lstStyle/>
          <a:p>
            <a:pPr algn="l"/>
            <a:r>
              <a:rPr sz="1800" b="1" i="0">
                <a:solidFill>
                  <a:srgbClr val="0E2841"/>
                </a:solidFill>
              </a:rPr>
              <a:t>Data preparation</a:t>
            </a:r>
          </a:p>
        </p:txBody>
      </p:sp>
      <p:sp>
        <p:nvSpPr>
          <p:cNvPr id="12" name="TextBox 11"/>
          <p:cNvSpPr txBox="1"/>
          <p:nvPr/>
        </p:nvSpPr>
        <p:spPr>
          <a:xfrm>
            <a:off x="4512564" y="2286000"/>
            <a:ext cx="3163824" cy="1005840"/>
          </a:xfrm>
          <a:prstGeom prst="rect">
            <a:avLst/>
          </a:prstGeom>
          <a:noFill/>
        </p:spPr>
        <p:txBody>
          <a:bodyPr wrap="square" lIns="0" tIns="0" rIns="0" bIns="0" anchor="t">
            <a:spAutoFit/>
          </a:bodyPr>
          <a:lstStyle/>
          <a:p>
            <a:pPr algn="l"/>
            <a:r>
              <a:rPr sz="1400" b="0" i="0">
                <a:solidFill>
                  <a:srgbClr val="1F2A37"/>
                </a:solidFill>
              </a:rPr>
              <a:t>pandas and NumPy; imputation, min–max scaling and SMOTE for class imbalance</a:t>
            </a:r>
          </a:p>
        </p:txBody>
      </p:sp>
      <p:sp>
        <p:nvSpPr>
          <p:cNvPr id="13" name="Skill card Evaluation and tuning"/>
          <p:cNvSpPr/>
          <p:nvPr/>
        </p:nvSpPr>
        <p:spPr>
          <a:xfrm>
            <a:off x="8129016" y="1325880"/>
            <a:ext cx="3621024" cy="2011680"/>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Icon circle eval"/>
          <p:cNvSpPr/>
          <p:nvPr/>
        </p:nvSpPr>
        <p:spPr>
          <a:xfrm>
            <a:off x="8357616" y="1527048"/>
            <a:ext cx="640080" cy="64008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Icon eval" descr="eval.png"/>
          <p:cNvPicPr>
            <a:picLocks noChangeAspect="1"/>
          </p:cNvPicPr>
          <p:nvPr/>
        </p:nvPicPr>
        <p:blipFill>
          <a:blip r:embed="rId4"/>
          <a:stretch>
            <a:fillRect/>
          </a:stretch>
        </p:blipFill>
        <p:spPr>
          <a:xfrm>
            <a:off x="8517636" y="1687068"/>
            <a:ext cx="320040" cy="320040"/>
          </a:xfrm>
          <a:prstGeom prst="rect">
            <a:avLst/>
          </a:prstGeom>
        </p:spPr>
      </p:pic>
      <p:sp>
        <p:nvSpPr>
          <p:cNvPr id="16" name="TextBox 15"/>
          <p:cNvSpPr txBox="1"/>
          <p:nvPr/>
        </p:nvSpPr>
        <p:spPr>
          <a:xfrm>
            <a:off x="9134856" y="1527048"/>
            <a:ext cx="2432304" cy="640080"/>
          </a:xfrm>
          <a:prstGeom prst="rect">
            <a:avLst/>
          </a:prstGeom>
          <a:noFill/>
        </p:spPr>
        <p:txBody>
          <a:bodyPr wrap="square" lIns="0" tIns="0" rIns="0" bIns="0" anchor="ctr">
            <a:spAutoFit/>
          </a:bodyPr>
          <a:lstStyle/>
          <a:p>
            <a:pPr algn="l"/>
            <a:r>
              <a:rPr sz="1800" b="1" i="0">
                <a:solidFill>
                  <a:srgbClr val="0E2841"/>
                </a:solidFill>
              </a:rPr>
              <a:t>Evaluation and tuning</a:t>
            </a:r>
          </a:p>
        </p:txBody>
      </p:sp>
      <p:sp>
        <p:nvSpPr>
          <p:cNvPr id="17" name="TextBox 16"/>
          <p:cNvSpPr txBox="1"/>
          <p:nvPr/>
        </p:nvSpPr>
        <p:spPr>
          <a:xfrm>
            <a:off x="8357616" y="2286000"/>
            <a:ext cx="3163824" cy="1005840"/>
          </a:xfrm>
          <a:prstGeom prst="rect">
            <a:avLst/>
          </a:prstGeom>
          <a:noFill/>
        </p:spPr>
        <p:txBody>
          <a:bodyPr wrap="square" lIns="0" tIns="0" rIns="0" bIns="0" anchor="t">
            <a:spAutoFit/>
          </a:bodyPr>
          <a:lstStyle/>
          <a:p>
            <a:pPr algn="l"/>
            <a:r>
              <a:rPr sz="1400" b="0" i="0">
                <a:solidFill>
                  <a:srgbClr val="1F2A37"/>
                </a:solidFill>
              </a:rPr>
              <a:t>GridSearchCV, confusion matrix, precision, recall, F1 and ROC-AUC</a:t>
            </a:r>
          </a:p>
        </p:txBody>
      </p:sp>
      <p:sp>
        <p:nvSpPr>
          <p:cNvPr id="18" name="Skill card Explainable AI"/>
          <p:cNvSpPr/>
          <p:nvPr/>
        </p:nvSpPr>
        <p:spPr>
          <a:xfrm>
            <a:off x="438912" y="3520439"/>
            <a:ext cx="3621024" cy="2011680"/>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Icon circle xai"/>
          <p:cNvSpPr/>
          <p:nvPr/>
        </p:nvSpPr>
        <p:spPr>
          <a:xfrm>
            <a:off x="667512" y="3721607"/>
            <a:ext cx="640080" cy="64008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Icon xai" descr="xai.png"/>
          <p:cNvPicPr>
            <a:picLocks noChangeAspect="1"/>
          </p:cNvPicPr>
          <p:nvPr/>
        </p:nvPicPr>
        <p:blipFill>
          <a:blip r:embed="rId5"/>
          <a:stretch>
            <a:fillRect/>
          </a:stretch>
        </p:blipFill>
        <p:spPr>
          <a:xfrm>
            <a:off x="827532" y="3881627"/>
            <a:ext cx="320040" cy="320040"/>
          </a:xfrm>
          <a:prstGeom prst="rect">
            <a:avLst/>
          </a:prstGeom>
        </p:spPr>
      </p:pic>
      <p:sp>
        <p:nvSpPr>
          <p:cNvPr id="21" name="TextBox 20"/>
          <p:cNvSpPr txBox="1"/>
          <p:nvPr/>
        </p:nvSpPr>
        <p:spPr>
          <a:xfrm>
            <a:off x="1444752" y="3721607"/>
            <a:ext cx="2432304" cy="640080"/>
          </a:xfrm>
          <a:prstGeom prst="rect">
            <a:avLst/>
          </a:prstGeom>
          <a:noFill/>
        </p:spPr>
        <p:txBody>
          <a:bodyPr wrap="square" lIns="0" tIns="0" rIns="0" bIns="0" anchor="ctr">
            <a:spAutoFit/>
          </a:bodyPr>
          <a:lstStyle/>
          <a:p>
            <a:pPr algn="l"/>
            <a:r>
              <a:rPr sz="1800" b="1" i="0">
                <a:solidFill>
                  <a:srgbClr val="0E2841"/>
                </a:solidFill>
              </a:rPr>
              <a:t>Explainable AI</a:t>
            </a:r>
          </a:p>
        </p:txBody>
      </p:sp>
      <p:sp>
        <p:nvSpPr>
          <p:cNvPr id="22" name="TextBox 21"/>
          <p:cNvSpPr txBox="1"/>
          <p:nvPr/>
        </p:nvSpPr>
        <p:spPr>
          <a:xfrm>
            <a:off x="667512" y="4480559"/>
            <a:ext cx="3163824" cy="1005840"/>
          </a:xfrm>
          <a:prstGeom prst="rect">
            <a:avLst/>
          </a:prstGeom>
          <a:noFill/>
        </p:spPr>
        <p:txBody>
          <a:bodyPr wrap="square" lIns="0" tIns="0" rIns="0" bIns="0" anchor="t">
            <a:spAutoFit/>
          </a:bodyPr>
          <a:lstStyle/>
          <a:p>
            <a:pPr algn="l"/>
            <a:r>
              <a:rPr sz="1400" b="0" i="0">
                <a:solidFill>
                  <a:srgbClr val="1F2A37"/>
                </a:solidFill>
              </a:rPr>
              <a:t>SHAP to show which features (Glucose, BMI, Age) drive each prediction</a:t>
            </a:r>
          </a:p>
        </p:txBody>
      </p:sp>
      <p:sp>
        <p:nvSpPr>
          <p:cNvPr id="23" name="Skill card App development"/>
          <p:cNvSpPr/>
          <p:nvPr/>
        </p:nvSpPr>
        <p:spPr>
          <a:xfrm>
            <a:off x="4283964" y="3520439"/>
            <a:ext cx="3621024" cy="2011680"/>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Icon circle app"/>
          <p:cNvSpPr/>
          <p:nvPr/>
        </p:nvSpPr>
        <p:spPr>
          <a:xfrm>
            <a:off x="4512564" y="3721607"/>
            <a:ext cx="640080" cy="64008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Icon app" descr="app.png"/>
          <p:cNvPicPr>
            <a:picLocks noChangeAspect="1"/>
          </p:cNvPicPr>
          <p:nvPr/>
        </p:nvPicPr>
        <p:blipFill>
          <a:blip r:embed="rId6"/>
          <a:stretch>
            <a:fillRect/>
          </a:stretch>
        </p:blipFill>
        <p:spPr>
          <a:xfrm>
            <a:off x="4672584" y="3881627"/>
            <a:ext cx="320040" cy="320040"/>
          </a:xfrm>
          <a:prstGeom prst="rect">
            <a:avLst/>
          </a:prstGeom>
        </p:spPr>
      </p:pic>
      <p:sp>
        <p:nvSpPr>
          <p:cNvPr id="26" name="TextBox 25"/>
          <p:cNvSpPr txBox="1"/>
          <p:nvPr/>
        </p:nvSpPr>
        <p:spPr>
          <a:xfrm>
            <a:off x="5289804" y="3721607"/>
            <a:ext cx="2432304" cy="640080"/>
          </a:xfrm>
          <a:prstGeom prst="rect">
            <a:avLst/>
          </a:prstGeom>
          <a:noFill/>
        </p:spPr>
        <p:txBody>
          <a:bodyPr wrap="square" lIns="0" tIns="0" rIns="0" bIns="0" anchor="ctr">
            <a:spAutoFit/>
          </a:bodyPr>
          <a:lstStyle/>
          <a:p>
            <a:pPr algn="l"/>
            <a:r>
              <a:rPr sz="1800" b="1" i="0">
                <a:solidFill>
                  <a:srgbClr val="0E2841"/>
                </a:solidFill>
              </a:rPr>
              <a:t>App development</a:t>
            </a:r>
          </a:p>
        </p:txBody>
      </p:sp>
      <p:sp>
        <p:nvSpPr>
          <p:cNvPr id="27" name="TextBox 26"/>
          <p:cNvSpPr txBox="1"/>
          <p:nvPr/>
        </p:nvSpPr>
        <p:spPr>
          <a:xfrm>
            <a:off x="4512564" y="4480559"/>
            <a:ext cx="3163824" cy="1005840"/>
          </a:xfrm>
          <a:prstGeom prst="rect">
            <a:avLst/>
          </a:prstGeom>
          <a:noFill/>
        </p:spPr>
        <p:txBody>
          <a:bodyPr wrap="square" lIns="0" tIns="0" rIns="0" bIns="0" anchor="t">
            <a:spAutoFit/>
          </a:bodyPr>
          <a:lstStyle/>
          <a:p>
            <a:pPr algn="l"/>
            <a:r>
              <a:rPr sz="1400" b="0" i="0">
                <a:solidFill>
                  <a:srgbClr val="1F2A37"/>
                </a:solidFill>
              </a:rPr>
              <a:t>Android Studio with Java; web front end in HTML, XML and CSS</a:t>
            </a:r>
          </a:p>
        </p:txBody>
      </p:sp>
      <p:sp>
        <p:nvSpPr>
          <p:cNvPr id="28" name="Skill card Model deployment"/>
          <p:cNvSpPr/>
          <p:nvPr/>
        </p:nvSpPr>
        <p:spPr>
          <a:xfrm>
            <a:off x="8129016" y="3520439"/>
            <a:ext cx="3621024" cy="2011680"/>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Icon circle deploy"/>
          <p:cNvSpPr/>
          <p:nvPr/>
        </p:nvSpPr>
        <p:spPr>
          <a:xfrm>
            <a:off x="8357616" y="3721607"/>
            <a:ext cx="640080" cy="64008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on deploy" descr="deploy.png"/>
          <p:cNvPicPr>
            <a:picLocks noChangeAspect="1"/>
          </p:cNvPicPr>
          <p:nvPr/>
        </p:nvPicPr>
        <p:blipFill>
          <a:blip r:embed="rId7"/>
          <a:stretch>
            <a:fillRect/>
          </a:stretch>
        </p:blipFill>
        <p:spPr>
          <a:xfrm>
            <a:off x="8517636" y="3881627"/>
            <a:ext cx="320040" cy="320040"/>
          </a:xfrm>
          <a:prstGeom prst="rect">
            <a:avLst/>
          </a:prstGeom>
        </p:spPr>
      </p:pic>
      <p:sp>
        <p:nvSpPr>
          <p:cNvPr id="31" name="TextBox 30"/>
          <p:cNvSpPr txBox="1"/>
          <p:nvPr/>
        </p:nvSpPr>
        <p:spPr>
          <a:xfrm>
            <a:off x="9134856" y="3721607"/>
            <a:ext cx="2432304" cy="640080"/>
          </a:xfrm>
          <a:prstGeom prst="rect">
            <a:avLst/>
          </a:prstGeom>
          <a:noFill/>
        </p:spPr>
        <p:txBody>
          <a:bodyPr wrap="square" lIns="0" tIns="0" rIns="0" bIns="0" anchor="ctr">
            <a:spAutoFit/>
          </a:bodyPr>
          <a:lstStyle/>
          <a:p>
            <a:pPr algn="l"/>
            <a:r>
              <a:rPr sz="1800" b="1" i="0">
                <a:solidFill>
                  <a:srgbClr val="0E2841"/>
                </a:solidFill>
              </a:rPr>
              <a:t>Model deployment</a:t>
            </a:r>
          </a:p>
        </p:txBody>
      </p:sp>
      <p:sp>
        <p:nvSpPr>
          <p:cNvPr id="32" name="TextBox 31"/>
          <p:cNvSpPr txBox="1"/>
          <p:nvPr/>
        </p:nvSpPr>
        <p:spPr>
          <a:xfrm>
            <a:off x="8357616" y="4480559"/>
            <a:ext cx="3163824" cy="1005840"/>
          </a:xfrm>
          <a:prstGeom prst="rect">
            <a:avLst/>
          </a:prstGeom>
          <a:noFill/>
        </p:spPr>
        <p:txBody>
          <a:bodyPr wrap="square" lIns="0" tIns="0" rIns="0" bIns="0" anchor="t">
            <a:spAutoFit/>
          </a:bodyPr>
          <a:lstStyle/>
          <a:p>
            <a:pPr algn="l"/>
            <a:r>
              <a:rPr sz="1400" b="0" i="0">
                <a:solidFill>
                  <a:srgbClr val="1F2A37"/>
                </a:solidFill>
              </a:rPr>
              <a:t>Pickle model behind a REST API on Heroku, with PHP and MySQL back end</a:t>
            </a:r>
          </a:p>
        </p:txBody>
      </p:sp>
    </p:spTree>
    <p:extLst>
      <p:ext uri="{BB962C8B-B14F-4D97-AF65-F5344CB8AC3E}">
        <p14:creationId xmlns:p14="http://schemas.microsoft.com/office/powerpoint/2010/main" val="450462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1F4C8-E7C8-E89F-DEE5-4CAADCB9E042}"/>
              </a:ext>
            </a:extLst>
          </p:cNvPr>
          <p:cNvSpPr>
            <a:spLocks noGrp="1"/>
          </p:cNvSpPr>
          <p:nvPr>
            <p:ph type="title"/>
          </p:nvPr>
        </p:nvSpPr>
        <p:spPr/>
        <p:txBody>
          <a:bodyPr>
            <a:normAutofit/>
          </a:bodyPr>
          <a:lstStyle/>
          <a:p>
            <a:r>
              <a:rPr lang="en-IN" b="1" dirty="0"/>
              <a:t>Proposed Solution</a:t>
            </a:r>
            <a:r>
              <a:rPr lang="en-IN" dirty="0"/>
              <a:t> – Architecture</a:t>
            </a:r>
          </a:p>
        </p:txBody>
      </p:sp>
      <p:sp>
        <p:nvSpPr>
          <p:cNvPr id="3" name="Model training (offline) heading"/>
          <p:cNvSpPr txBox="1"/>
          <p:nvPr/>
        </p:nvSpPr>
        <p:spPr>
          <a:xfrm>
            <a:off x="438912" y="1234440"/>
            <a:ext cx="7315200" cy="320040"/>
          </a:xfrm>
          <a:prstGeom prst="rect">
            <a:avLst/>
          </a:prstGeom>
          <a:noFill/>
        </p:spPr>
        <p:txBody>
          <a:bodyPr wrap="square" lIns="0" tIns="0" rIns="0" bIns="0" anchor="t">
            <a:spAutoFit/>
          </a:bodyPr>
          <a:lstStyle/>
          <a:p>
            <a:pPr algn="l"/>
            <a:r>
              <a:rPr sz="1800" b="1" i="0">
                <a:solidFill>
                  <a:srgbClr val="0E2841"/>
                </a:solidFill>
              </a:rPr>
              <a:t>Model training (offline)</a:t>
            </a:r>
          </a:p>
        </p:txBody>
      </p:sp>
      <p:sp>
        <p:nvSpPr>
          <p:cNvPr id="4" name="Model training (offline) step 1"/>
          <p:cNvSpPr/>
          <p:nvPr/>
        </p:nvSpPr>
        <p:spPr>
          <a:xfrm>
            <a:off x="438912" y="1600200"/>
            <a:ext cx="2331720" cy="1325880"/>
          </a:xfrm>
          <a:prstGeom prst="roundRect">
            <a:avLst>
              <a:gd name="adj" fmla="val 7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73152" rtlCol="0" anchor="t"/>
          <a:lstStyle/>
          <a:p>
            <a:pPr algn="l">
              <a:spcAft>
                <a:spcPts val="300"/>
              </a:spcAft>
            </a:pPr>
            <a:r>
              <a:rPr sz="1600" b="1" i="0">
                <a:solidFill>
                  <a:srgbClr val="0E2841"/>
                </a:solidFill>
              </a:rPr>
              <a:t>Datasets</a:t>
            </a:r>
          </a:p>
          <a:p>
            <a:pPr algn="l"/>
            <a:r>
              <a:rPr sz="1400" b="0" i="0">
                <a:solidFill>
                  <a:srgbClr val="1F2A37"/>
                </a:solidFill>
              </a:rPr>
              <a:t>Pima Indians + private data, 8 features</a:t>
            </a:r>
          </a:p>
        </p:txBody>
      </p:sp>
      <p:sp>
        <p:nvSpPr>
          <p:cNvPr id="5" name="Flow arrow"/>
          <p:cNvSpPr/>
          <p:nvPr/>
        </p:nvSpPr>
        <p:spPr>
          <a:xfrm>
            <a:off x="2816352" y="2130552"/>
            <a:ext cx="329184" cy="274320"/>
          </a:xfrm>
          <a:prstGeom prst="rightArrow">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Model training (offline) step 2"/>
          <p:cNvSpPr/>
          <p:nvPr/>
        </p:nvSpPr>
        <p:spPr>
          <a:xfrm>
            <a:off x="3227832" y="1600200"/>
            <a:ext cx="2331720" cy="1325880"/>
          </a:xfrm>
          <a:prstGeom prst="roundRect">
            <a:avLst>
              <a:gd name="adj" fmla="val 7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73152" rtlCol="0" anchor="t"/>
          <a:lstStyle/>
          <a:p>
            <a:pPr algn="l">
              <a:spcAft>
                <a:spcPts val="300"/>
              </a:spcAft>
            </a:pPr>
            <a:r>
              <a:rPr sz="1600" b="1" i="0">
                <a:solidFill>
                  <a:srgbClr val="0E2841"/>
                </a:solidFill>
              </a:rPr>
              <a:t>Pre-process</a:t>
            </a:r>
          </a:p>
          <a:p>
            <a:pPr algn="l"/>
            <a:r>
              <a:rPr sz="1400" b="0" i="0">
                <a:solidFill>
                  <a:srgbClr val="1F2A37"/>
                </a:solidFill>
              </a:rPr>
              <a:t>Fill zeros, scale, 75/25 split, SMOTE on train set</a:t>
            </a:r>
          </a:p>
        </p:txBody>
      </p:sp>
      <p:sp>
        <p:nvSpPr>
          <p:cNvPr id="7" name="Flow arrow"/>
          <p:cNvSpPr/>
          <p:nvPr/>
        </p:nvSpPr>
        <p:spPr>
          <a:xfrm>
            <a:off x="5605272" y="2130552"/>
            <a:ext cx="329184" cy="274320"/>
          </a:xfrm>
          <a:prstGeom prst="rightArrow">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Model training (offline) step 3"/>
          <p:cNvSpPr/>
          <p:nvPr/>
        </p:nvSpPr>
        <p:spPr>
          <a:xfrm>
            <a:off x="6016752" y="1600200"/>
            <a:ext cx="2331720" cy="1325880"/>
          </a:xfrm>
          <a:prstGeom prst="roundRect">
            <a:avLst>
              <a:gd name="adj" fmla="val 7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73152" rtlCol="0" anchor="t"/>
          <a:lstStyle/>
          <a:p>
            <a:pPr algn="l">
              <a:spcAft>
                <a:spcPts val="300"/>
              </a:spcAft>
            </a:pPr>
            <a:r>
              <a:rPr sz="1600" b="1" i="0">
                <a:solidFill>
                  <a:srgbClr val="0E2841"/>
                </a:solidFill>
              </a:rPr>
              <a:t>Train and tune</a:t>
            </a:r>
          </a:p>
          <a:p>
            <a:pPr algn="l"/>
            <a:r>
              <a:rPr sz="1400" b="0" i="0">
                <a:solidFill>
                  <a:srgbClr val="1F2A37"/>
                </a:solidFill>
              </a:rPr>
              <a:t>XGBoost chosen after comparing 10 models</a:t>
            </a:r>
          </a:p>
        </p:txBody>
      </p:sp>
      <p:sp>
        <p:nvSpPr>
          <p:cNvPr id="9" name="Flow arrow"/>
          <p:cNvSpPr/>
          <p:nvPr/>
        </p:nvSpPr>
        <p:spPr>
          <a:xfrm>
            <a:off x="8394192" y="2130552"/>
            <a:ext cx="329184" cy="274320"/>
          </a:xfrm>
          <a:prstGeom prst="rightArrow">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Model training (offline) step 4"/>
          <p:cNvSpPr/>
          <p:nvPr/>
        </p:nvSpPr>
        <p:spPr>
          <a:xfrm>
            <a:off x="8805672" y="1600200"/>
            <a:ext cx="2331720" cy="1325880"/>
          </a:xfrm>
          <a:prstGeom prst="roundRect">
            <a:avLst>
              <a:gd name="adj" fmla="val 7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73152" rtlCol="0" anchor="t"/>
          <a:lstStyle/>
          <a:p>
            <a:pPr algn="l">
              <a:spcAft>
                <a:spcPts val="300"/>
              </a:spcAft>
            </a:pPr>
            <a:r>
              <a:rPr sz="1600" b="1" i="0">
                <a:solidFill>
                  <a:srgbClr val="0E2841"/>
                </a:solidFill>
              </a:rPr>
              <a:t>Save model</a:t>
            </a:r>
          </a:p>
          <a:p>
            <a:pPr algn="l"/>
            <a:r>
              <a:rPr sz="1400" b="0" i="0">
                <a:solidFill>
                  <a:srgbClr val="1F2A37"/>
                </a:solidFill>
              </a:rPr>
              <a:t>Export the trained model as a pickle file</a:t>
            </a:r>
          </a:p>
        </p:txBody>
      </p:sp>
      <p:sp>
        <p:nvSpPr>
          <p:cNvPr id="11" name="Prediction (online) heading"/>
          <p:cNvSpPr txBox="1"/>
          <p:nvPr/>
        </p:nvSpPr>
        <p:spPr>
          <a:xfrm>
            <a:off x="438912" y="3017520"/>
            <a:ext cx="7315200" cy="320040"/>
          </a:xfrm>
          <a:prstGeom prst="rect">
            <a:avLst/>
          </a:prstGeom>
          <a:noFill/>
        </p:spPr>
        <p:txBody>
          <a:bodyPr wrap="square" lIns="0" tIns="0" rIns="0" bIns="0" anchor="t">
            <a:spAutoFit/>
          </a:bodyPr>
          <a:lstStyle/>
          <a:p>
            <a:pPr algn="l"/>
            <a:r>
              <a:rPr sz="1800" b="1" i="0">
                <a:solidFill>
                  <a:srgbClr val="0E2841"/>
                </a:solidFill>
              </a:rPr>
              <a:t>Prediction (online)</a:t>
            </a:r>
          </a:p>
        </p:txBody>
      </p:sp>
      <p:sp>
        <p:nvSpPr>
          <p:cNvPr id="12" name="Prediction (online) step 1"/>
          <p:cNvSpPr/>
          <p:nvPr/>
        </p:nvSpPr>
        <p:spPr>
          <a:xfrm>
            <a:off x="438912" y="3383279"/>
            <a:ext cx="2331720" cy="1325880"/>
          </a:xfrm>
          <a:prstGeom prst="roundRect">
            <a:avLst>
              <a:gd name="adj" fmla="val 7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73152" rtlCol="0" anchor="t"/>
          <a:lstStyle/>
          <a:p>
            <a:pPr algn="l">
              <a:spcAft>
                <a:spcPts val="300"/>
              </a:spcAft>
            </a:pPr>
            <a:r>
              <a:rPr sz="1600" b="1" i="0">
                <a:solidFill>
                  <a:srgbClr val="0E2841"/>
                </a:solidFill>
              </a:rPr>
              <a:t>User input</a:t>
            </a:r>
          </a:p>
          <a:p>
            <a:pPr algn="l"/>
            <a:r>
              <a:rPr sz="1400" b="0" i="0">
                <a:solidFill>
                  <a:srgbClr val="1F2A37"/>
                </a:solidFill>
              </a:rPr>
              <a:t>Age, glucose, insulin, BMI … entered in web or Android app</a:t>
            </a:r>
          </a:p>
        </p:txBody>
      </p:sp>
      <p:sp>
        <p:nvSpPr>
          <p:cNvPr id="13" name="Flow arrow"/>
          <p:cNvSpPr/>
          <p:nvPr/>
        </p:nvSpPr>
        <p:spPr>
          <a:xfrm>
            <a:off x="2816352" y="3913631"/>
            <a:ext cx="329184" cy="274320"/>
          </a:xfrm>
          <a:prstGeom prst="rightArrow">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Prediction (online) step 2"/>
          <p:cNvSpPr/>
          <p:nvPr/>
        </p:nvSpPr>
        <p:spPr>
          <a:xfrm>
            <a:off x="3227832" y="3383279"/>
            <a:ext cx="2331720" cy="1325880"/>
          </a:xfrm>
          <a:prstGeom prst="roundRect">
            <a:avLst>
              <a:gd name="adj" fmla="val 7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73152" rtlCol="0" anchor="t"/>
          <a:lstStyle/>
          <a:p>
            <a:pPr algn="l">
              <a:spcAft>
                <a:spcPts val="300"/>
              </a:spcAft>
            </a:pPr>
            <a:r>
              <a:rPr sz="1600" b="1" i="0">
                <a:solidFill>
                  <a:srgbClr val="0E2841"/>
                </a:solidFill>
              </a:rPr>
              <a:t>REST API</a:t>
            </a:r>
          </a:p>
          <a:p>
            <a:pPr algn="l"/>
            <a:r>
              <a:rPr sz="1400" b="0" i="0">
                <a:solidFill>
                  <a:srgbClr val="1F2A37"/>
                </a:solidFill>
              </a:rPr>
              <a:t>Hosted on Heroku; passes inputs to the model</a:t>
            </a:r>
          </a:p>
        </p:txBody>
      </p:sp>
      <p:sp>
        <p:nvSpPr>
          <p:cNvPr id="15" name="Flow arrow"/>
          <p:cNvSpPr/>
          <p:nvPr/>
        </p:nvSpPr>
        <p:spPr>
          <a:xfrm>
            <a:off x="5605272" y="3913631"/>
            <a:ext cx="329184" cy="274320"/>
          </a:xfrm>
          <a:prstGeom prst="rightArrow">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Prediction (online) step 3"/>
          <p:cNvSpPr/>
          <p:nvPr/>
        </p:nvSpPr>
        <p:spPr>
          <a:xfrm>
            <a:off x="6016752" y="3383279"/>
            <a:ext cx="2331720" cy="1325880"/>
          </a:xfrm>
          <a:prstGeom prst="roundRect">
            <a:avLst>
              <a:gd name="adj" fmla="val 7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73152" rtlCol="0" anchor="t"/>
          <a:lstStyle/>
          <a:p>
            <a:pPr algn="l">
              <a:spcAft>
                <a:spcPts val="300"/>
              </a:spcAft>
            </a:pPr>
            <a:r>
              <a:rPr sz="1600" b="1" i="0">
                <a:solidFill>
                  <a:srgbClr val="0E2841"/>
                </a:solidFill>
              </a:rPr>
              <a:t>XGBoost model</a:t>
            </a:r>
          </a:p>
          <a:p>
            <a:pPr algn="l"/>
            <a:r>
              <a:rPr sz="1400" b="0" i="0">
                <a:solidFill>
                  <a:srgbClr val="1F2A37"/>
                </a:solidFill>
              </a:rPr>
              <a:t>Loads the pickle file and predicts outcome 0 or 1</a:t>
            </a:r>
          </a:p>
        </p:txBody>
      </p:sp>
      <p:sp>
        <p:nvSpPr>
          <p:cNvPr id="17" name="Flow arrow"/>
          <p:cNvSpPr/>
          <p:nvPr/>
        </p:nvSpPr>
        <p:spPr>
          <a:xfrm>
            <a:off x="8394192" y="3913631"/>
            <a:ext cx="329184" cy="274320"/>
          </a:xfrm>
          <a:prstGeom prst="rightArrow">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Prediction (online) step 4"/>
          <p:cNvSpPr/>
          <p:nvPr/>
        </p:nvSpPr>
        <p:spPr>
          <a:xfrm>
            <a:off x="8805672" y="3383279"/>
            <a:ext cx="2331720" cy="1325880"/>
          </a:xfrm>
          <a:prstGeom prst="roundRect">
            <a:avLst>
              <a:gd name="adj" fmla="val 7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73152" rtlCol="0" anchor="t"/>
          <a:lstStyle/>
          <a:p>
            <a:pPr algn="l">
              <a:spcAft>
                <a:spcPts val="300"/>
              </a:spcAft>
            </a:pPr>
            <a:r>
              <a:rPr sz="1600" b="1" i="0">
                <a:solidFill>
                  <a:srgbClr val="0E2841"/>
                </a:solidFill>
              </a:rPr>
              <a:t>Result</a:t>
            </a:r>
          </a:p>
          <a:p>
            <a:pPr algn="l"/>
            <a:r>
              <a:rPr sz="1400" b="0" i="0">
                <a:solidFill>
                  <a:srgbClr val="1F2A37"/>
                </a:solidFill>
              </a:rPr>
              <a:t>App instantly shows diabetic or not diabetic</a:t>
            </a:r>
          </a:p>
        </p:txBody>
      </p:sp>
      <p:sp>
        <p:nvSpPr>
          <p:cNvPr id="19" name="Tech stack"/>
          <p:cNvSpPr/>
          <p:nvPr/>
        </p:nvSpPr>
        <p:spPr>
          <a:xfrm>
            <a:off x="438912" y="4846320"/>
            <a:ext cx="9875520" cy="914400"/>
          </a:xfrm>
          <a:prstGeom prst="roundRect">
            <a:avLst>
              <a:gd name="adj" fmla="val 7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91440" rIns="182880" bIns="73152" rtlCol="0" anchor="ctr"/>
          <a:lstStyle/>
          <a:p>
            <a:pPr algn="l">
              <a:spcAft>
                <a:spcPts val="300"/>
              </a:spcAft>
            </a:pPr>
            <a:r>
              <a:rPr sz="1400" b="1" i="0">
                <a:solidFill>
                  <a:srgbClr val="1F2A37"/>
                </a:solidFill>
              </a:rPr>
              <a:t>Software: </a:t>
            </a:r>
            <a:r>
              <a:rPr sz="1400" b="0" i="0">
                <a:solidFill>
                  <a:srgbClr val="1F2A37"/>
                </a:solidFill>
              </a:rPr>
              <a:t>Python (Spyder, scikit-learn, XGBoost, SHAP), Android Studio with Java, HTML / XML / CSS, PHP and MySQL, Heroku</a:t>
            </a:r>
          </a:p>
          <a:p>
            <a:pPr algn="l"/>
            <a:r>
              <a:rPr sz="1400" b="1" i="0">
                <a:solidFill>
                  <a:srgbClr val="1F2A37"/>
                </a:solidFill>
              </a:rPr>
              <a:t>Hardware: </a:t>
            </a:r>
            <a:r>
              <a:rPr sz="1400" b="0" i="0">
                <a:solidFill>
                  <a:srgbClr val="1F2A37"/>
                </a:solidFill>
              </a:rPr>
              <a:t>laptop or PC for training; Android smartphone for testing the app</a:t>
            </a:r>
          </a:p>
        </p:txBody>
      </p:sp>
    </p:spTree>
    <p:extLst>
      <p:ext uri="{BB962C8B-B14F-4D97-AF65-F5344CB8AC3E}">
        <p14:creationId xmlns:p14="http://schemas.microsoft.com/office/powerpoint/2010/main" val="4215994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28808-708B-1F84-A832-60E5B6B7B35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36E10C1-DB65-56E3-4F0F-03211818396F}"/>
              </a:ext>
            </a:extLst>
          </p:cNvPr>
          <p:cNvSpPr>
            <a:spLocks noGrp="1"/>
          </p:cNvSpPr>
          <p:nvPr>
            <p:ph type="title"/>
          </p:nvPr>
        </p:nvSpPr>
        <p:spPr/>
        <p:txBody>
          <a:bodyPr/>
          <a:lstStyle/>
          <a:p>
            <a:r>
              <a:rPr lang="en-US" dirty="0"/>
              <a:t>Results of Base Paper</a:t>
            </a:r>
            <a:endParaRPr lang="en-IN" dirty="0"/>
          </a:p>
        </p:txBody>
      </p:sp>
      <p:graphicFrame>
        <p:nvGraphicFramePr>
          <p:cNvPr id="5" name="Accuracy chart"/>
          <p:cNvGraphicFramePr>
            <a:graphicFrameLocks noGrp="1"/>
          </p:cNvGraphicFramePr>
          <p:nvPr/>
        </p:nvGraphicFramePr>
        <p:xfrm>
          <a:off x="438912" y="1280160"/>
          <a:ext cx="7132320" cy="4389120"/>
        </p:xfrm>
        <a:graphic>
          <a:graphicData uri="http://schemas.openxmlformats.org/drawingml/2006/chart">
            <c:chart xmlns:c="http://schemas.openxmlformats.org/drawingml/2006/chart" xmlns:r="http://schemas.openxmlformats.org/officeDocument/2006/relationships" r:id="rId2"/>
          </a:graphicData>
        </a:graphic>
      </p:graphicFrame>
      <p:sp>
        <p:nvSpPr>
          <p:cNvPr id="6" name="Result panel Combined data (1,068 records)"/>
          <p:cNvSpPr/>
          <p:nvPr/>
        </p:nvSpPr>
        <p:spPr>
          <a:xfrm>
            <a:off x="7863840" y="1280160"/>
            <a:ext cx="3886200" cy="2057400"/>
          </a:xfrm>
          <a:prstGeom prst="roundRect">
            <a:avLst>
              <a:gd name="adj" fmla="val 7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sult panel title"/>
          <p:cNvSpPr txBox="1"/>
          <p:nvPr/>
        </p:nvSpPr>
        <p:spPr>
          <a:xfrm>
            <a:off x="8046720" y="1417319"/>
            <a:ext cx="3566160" cy="548640"/>
          </a:xfrm>
          <a:prstGeom prst="rect">
            <a:avLst/>
          </a:prstGeom>
          <a:noFill/>
        </p:spPr>
        <p:txBody>
          <a:bodyPr wrap="square" lIns="0" tIns="0" rIns="0" bIns="0" anchor="t">
            <a:spAutoFit/>
          </a:bodyPr>
          <a:lstStyle/>
          <a:p>
            <a:pPr algn="l"/>
            <a:r>
              <a:rPr sz="1600" b="1" i="0">
                <a:solidFill>
                  <a:srgbClr val="0E2841"/>
                </a:solidFill>
              </a:rPr>
              <a:t>Combined data (1,068 records)</a:t>
            </a:r>
          </a:p>
        </p:txBody>
      </p:sp>
      <p:sp>
        <p:nvSpPr>
          <p:cNvPr id="8" name="Result stat Accuracy"/>
          <p:cNvSpPr txBox="1"/>
          <p:nvPr/>
        </p:nvSpPr>
        <p:spPr>
          <a:xfrm>
            <a:off x="8046720" y="2057400"/>
            <a:ext cx="1463040" cy="1097280"/>
          </a:xfrm>
          <a:prstGeom prst="rect">
            <a:avLst/>
          </a:prstGeom>
          <a:noFill/>
        </p:spPr>
        <p:txBody>
          <a:bodyPr wrap="square" lIns="0" tIns="0" rIns="0" bIns="0" anchor="t">
            <a:spAutoFit/>
          </a:bodyPr>
          <a:lstStyle/>
          <a:p>
            <a:pPr algn="l">
              <a:spcAft>
                <a:spcPts val="0"/>
              </a:spcAft>
            </a:pPr>
            <a:r>
              <a:rPr sz="2600" b="1" i="0">
                <a:solidFill>
                  <a:srgbClr val="156082"/>
                </a:solidFill>
              </a:rPr>
              <a:t>83.1%</a:t>
            </a:r>
          </a:p>
          <a:p>
            <a:pPr algn="l"/>
            <a:r>
              <a:rPr sz="1400" b="0" i="0">
                <a:solidFill>
                  <a:srgbClr val="1F2A37"/>
                </a:solidFill>
              </a:rPr>
              <a:t>Accuracy</a:t>
            </a:r>
          </a:p>
        </p:txBody>
      </p:sp>
      <p:sp>
        <p:nvSpPr>
          <p:cNvPr id="9" name="Result stat F1 score"/>
          <p:cNvSpPr txBox="1"/>
          <p:nvPr/>
        </p:nvSpPr>
        <p:spPr>
          <a:xfrm>
            <a:off x="9509760" y="2057400"/>
            <a:ext cx="1097280" cy="1097280"/>
          </a:xfrm>
          <a:prstGeom prst="rect">
            <a:avLst/>
          </a:prstGeom>
          <a:noFill/>
        </p:spPr>
        <p:txBody>
          <a:bodyPr wrap="square" lIns="0" tIns="0" rIns="0" bIns="0" anchor="t">
            <a:spAutoFit/>
          </a:bodyPr>
          <a:lstStyle/>
          <a:p>
            <a:pPr algn="l">
              <a:spcAft>
                <a:spcPts val="0"/>
              </a:spcAft>
            </a:pPr>
            <a:r>
              <a:rPr sz="2600" b="1" i="0">
                <a:solidFill>
                  <a:srgbClr val="156082"/>
                </a:solidFill>
              </a:rPr>
              <a:t>0.76</a:t>
            </a:r>
          </a:p>
          <a:p>
            <a:pPr algn="l"/>
            <a:r>
              <a:rPr sz="1400" b="0" i="0">
                <a:solidFill>
                  <a:srgbClr val="1F2A37"/>
                </a:solidFill>
              </a:rPr>
              <a:t>F1 score</a:t>
            </a:r>
          </a:p>
        </p:txBody>
      </p:sp>
      <p:sp>
        <p:nvSpPr>
          <p:cNvPr id="10" name="Result stat AUC"/>
          <p:cNvSpPr txBox="1"/>
          <p:nvPr/>
        </p:nvSpPr>
        <p:spPr>
          <a:xfrm>
            <a:off x="10652760" y="2057400"/>
            <a:ext cx="1005840" cy="1097280"/>
          </a:xfrm>
          <a:prstGeom prst="rect">
            <a:avLst/>
          </a:prstGeom>
          <a:noFill/>
        </p:spPr>
        <p:txBody>
          <a:bodyPr wrap="square" lIns="0" tIns="0" rIns="0" bIns="0" anchor="t">
            <a:spAutoFit/>
          </a:bodyPr>
          <a:lstStyle/>
          <a:p>
            <a:pPr algn="l">
              <a:spcAft>
                <a:spcPts val="0"/>
              </a:spcAft>
            </a:pPr>
            <a:r>
              <a:rPr sz="2600" b="1" i="0">
                <a:solidFill>
                  <a:srgbClr val="156082"/>
                </a:solidFill>
              </a:rPr>
              <a:t>0.85</a:t>
            </a:r>
          </a:p>
          <a:p>
            <a:pPr algn="l"/>
            <a:r>
              <a:rPr sz="1400" b="0" i="0">
                <a:solidFill>
                  <a:srgbClr val="1F2A37"/>
                </a:solidFill>
              </a:rPr>
              <a:t>AUC</a:t>
            </a:r>
          </a:p>
        </p:txBody>
      </p:sp>
      <p:sp>
        <p:nvSpPr>
          <p:cNvPr id="11" name="Result panel Private data via domain adaptation"/>
          <p:cNvSpPr/>
          <p:nvPr/>
        </p:nvSpPr>
        <p:spPr>
          <a:xfrm>
            <a:off x="7863840" y="3566160"/>
            <a:ext cx="3886200" cy="2057400"/>
          </a:xfrm>
          <a:prstGeom prst="roundRect">
            <a:avLst>
              <a:gd name="adj" fmla="val 7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sult panel title"/>
          <p:cNvSpPr txBox="1"/>
          <p:nvPr/>
        </p:nvSpPr>
        <p:spPr>
          <a:xfrm>
            <a:off x="8046720" y="3703320"/>
            <a:ext cx="3566160" cy="548640"/>
          </a:xfrm>
          <a:prstGeom prst="rect">
            <a:avLst/>
          </a:prstGeom>
          <a:noFill/>
        </p:spPr>
        <p:txBody>
          <a:bodyPr wrap="square" lIns="0" tIns="0" rIns="0" bIns="0" anchor="t">
            <a:spAutoFit/>
          </a:bodyPr>
          <a:lstStyle/>
          <a:p>
            <a:pPr algn="l"/>
            <a:r>
              <a:rPr sz="1600" b="1" i="0">
                <a:solidFill>
                  <a:srgbClr val="0E2841"/>
                </a:solidFill>
              </a:rPr>
              <a:t>Private data via domain adaptation</a:t>
            </a:r>
          </a:p>
        </p:txBody>
      </p:sp>
      <p:sp>
        <p:nvSpPr>
          <p:cNvPr id="13" name="Result stat Accuracy"/>
          <p:cNvSpPr txBox="1"/>
          <p:nvPr/>
        </p:nvSpPr>
        <p:spPr>
          <a:xfrm>
            <a:off x="8046720" y="4343400"/>
            <a:ext cx="1463040" cy="1097280"/>
          </a:xfrm>
          <a:prstGeom prst="rect">
            <a:avLst/>
          </a:prstGeom>
          <a:noFill/>
        </p:spPr>
        <p:txBody>
          <a:bodyPr wrap="square" lIns="0" tIns="0" rIns="0" bIns="0" anchor="t">
            <a:spAutoFit/>
          </a:bodyPr>
          <a:lstStyle/>
          <a:p>
            <a:pPr algn="l">
              <a:spcAft>
                <a:spcPts val="0"/>
              </a:spcAft>
            </a:pPr>
            <a:r>
              <a:rPr sz="2600" b="1" i="0">
                <a:solidFill>
                  <a:srgbClr val="C8511A"/>
                </a:solidFill>
              </a:rPr>
              <a:t>97.4%</a:t>
            </a:r>
          </a:p>
          <a:p>
            <a:pPr algn="l"/>
            <a:r>
              <a:rPr sz="1400" b="0" i="0">
                <a:solidFill>
                  <a:srgbClr val="1F2A37"/>
                </a:solidFill>
              </a:rPr>
              <a:t>Accuracy</a:t>
            </a:r>
          </a:p>
        </p:txBody>
      </p:sp>
      <p:sp>
        <p:nvSpPr>
          <p:cNvPr id="14" name="Result stat F1 score"/>
          <p:cNvSpPr txBox="1"/>
          <p:nvPr/>
        </p:nvSpPr>
        <p:spPr>
          <a:xfrm>
            <a:off x="9509760" y="4343400"/>
            <a:ext cx="1097280" cy="1097280"/>
          </a:xfrm>
          <a:prstGeom prst="rect">
            <a:avLst/>
          </a:prstGeom>
          <a:noFill/>
        </p:spPr>
        <p:txBody>
          <a:bodyPr wrap="square" lIns="0" tIns="0" rIns="0" bIns="0" anchor="t">
            <a:spAutoFit/>
          </a:bodyPr>
          <a:lstStyle/>
          <a:p>
            <a:pPr algn="l">
              <a:spcAft>
                <a:spcPts val="0"/>
              </a:spcAft>
            </a:pPr>
            <a:r>
              <a:rPr sz="2600" b="1" i="0">
                <a:solidFill>
                  <a:srgbClr val="C8511A"/>
                </a:solidFill>
              </a:rPr>
              <a:t>0.95</a:t>
            </a:r>
          </a:p>
          <a:p>
            <a:pPr algn="l"/>
            <a:r>
              <a:rPr sz="1400" b="0" i="0">
                <a:solidFill>
                  <a:srgbClr val="1F2A37"/>
                </a:solidFill>
              </a:rPr>
              <a:t>F1 score</a:t>
            </a:r>
          </a:p>
        </p:txBody>
      </p:sp>
      <p:sp>
        <p:nvSpPr>
          <p:cNvPr id="15" name="Result stat AUC"/>
          <p:cNvSpPr txBox="1"/>
          <p:nvPr/>
        </p:nvSpPr>
        <p:spPr>
          <a:xfrm>
            <a:off x="10652760" y="4343400"/>
            <a:ext cx="1005840" cy="1097280"/>
          </a:xfrm>
          <a:prstGeom prst="rect">
            <a:avLst/>
          </a:prstGeom>
          <a:noFill/>
        </p:spPr>
        <p:txBody>
          <a:bodyPr wrap="square" lIns="0" tIns="0" rIns="0" bIns="0" anchor="t">
            <a:spAutoFit/>
          </a:bodyPr>
          <a:lstStyle/>
          <a:p>
            <a:pPr algn="l">
              <a:spcAft>
                <a:spcPts val="0"/>
              </a:spcAft>
            </a:pPr>
            <a:r>
              <a:rPr sz="2600" b="1" i="0">
                <a:solidFill>
                  <a:srgbClr val="C8511A"/>
                </a:solidFill>
              </a:rPr>
              <a:t>0.87</a:t>
            </a:r>
          </a:p>
          <a:p>
            <a:pPr algn="l"/>
            <a:r>
              <a:rPr sz="1400" b="0" i="0">
                <a:solidFill>
                  <a:srgbClr val="1F2A37"/>
                </a:solidFill>
              </a:rPr>
              <a:t>AUC</a:t>
            </a:r>
          </a:p>
        </p:txBody>
      </p:sp>
    </p:spTree>
    <p:extLst>
      <p:ext uri="{BB962C8B-B14F-4D97-AF65-F5344CB8AC3E}">
        <p14:creationId xmlns:p14="http://schemas.microsoft.com/office/powerpoint/2010/main" val="1369502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B0506-B64D-F97F-8C8F-56066F259353}"/>
              </a:ext>
            </a:extLst>
          </p:cNvPr>
          <p:cNvSpPr>
            <a:spLocks noGrp="1"/>
          </p:cNvSpPr>
          <p:nvPr>
            <p:ph type="title"/>
          </p:nvPr>
        </p:nvSpPr>
        <p:spPr/>
        <p:txBody>
          <a:bodyPr/>
          <a:lstStyle/>
          <a:p>
            <a:r>
              <a:rPr lang="en-US" dirty="0"/>
              <a:t>Outcomes</a:t>
            </a:r>
            <a:endParaRPr lang="en-IN" dirty="0"/>
          </a:p>
        </p:txBody>
      </p:sp>
      <p:sp>
        <p:nvSpPr>
          <p:cNvPr id="3" name="Outcome card Best-model comparison"/>
          <p:cNvSpPr/>
          <p:nvPr/>
        </p:nvSpPr>
        <p:spPr>
          <a:xfrm>
            <a:off x="438912" y="1325880"/>
            <a:ext cx="3621024" cy="2697480"/>
          </a:xfrm>
          <a:prstGeom prst="roundRect">
            <a:avLst>
              <a:gd name="adj" fmla="val 7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Icon circle cmp"/>
          <p:cNvSpPr/>
          <p:nvPr/>
        </p:nvSpPr>
        <p:spPr>
          <a:xfrm>
            <a:off x="667512" y="1554480"/>
            <a:ext cx="640080" cy="64008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Icon cmp" descr="cmp.png"/>
          <p:cNvPicPr>
            <a:picLocks noChangeAspect="1"/>
          </p:cNvPicPr>
          <p:nvPr/>
        </p:nvPicPr>
        <p:blipFill>
          <a:blip r:embed="rId2"/>
          <a:stretch>
            <a:fillRect/>
          </a:stretch>
        </p:blipFill>
        <p:spPr>
          <a:xfrm>
            <a:off x="827532" y="1714500"/>
            <a:ext cx="320040" cy="320040"/>
          </a:xfrm>
          <a:prstGeom prst="rect">
            <a:avLst/>
          </a:prstGeom>
        </p:spPr>
      </p:pic>
      <p:sp>
        <p:nvSpPr>
          <p:cNvPr id="6" name="TextBox 5"/>
          <p:cNvSpPr txBox="1"/>
          <p:nvPr/>
        </p:nvSpPr>
        <p:spPr>
          <a:xfrm>
            <a:off x="1444752" y="1554480"/>
            <a:ext cx="2432304" cy="640080"/>
          </a:xfrm>
          <a:prstGeom prst="rect">
            <a:avLst/>
          </a:prstGeom>
          <a:noFill/>
        </p:spPr>
        <p:txBody>
          <a:bodyPr wrap="square" lIns="0" tIns="0" rIns="0" bIns="0" anchor="ctr">
            <a:spAutoFit/>
          </a:bodyPr>
          <a:lstStyle/>
          <a:p>
            <a:pPr algn="l"/>
            <a:r>
              <a:rPr sz="1800" b="1" i="0">
                <a:solidFill>
                  <a:srgbClr val="0E2841"/>
                </a:solidFill>
              </a:rPr>
              <a:t>Best-model comparison</a:t>
            </a:r>
          </a:p>
        </p:txBody>
      </p:sp>
      <p:sp>
        <p:nvSpPr>
          <p:cNvPr id="7" name="TextBox 6"/>
          <p:cNvSpPr txBox="1"/>
          <p:nvPr/>
        </p:nvSpPr>
        <p:spPr>
          <a:xfrm>
            <a:off x="667512" y="2423160"/>
            <a:ext cx="3163824" cy="1554480"/>
          </a:xfrm>
          <a:prstGeom prst="rect">
            <a:avLst/>
          </a:prstGeom>
          <a:noFill/>
        </p:spPr>
        <p:txBody>
          <a:bodyPr wrap="square" lIns="0" tIns="0" rIns="0" bIns="0" anchor="t">
            <a:spAutoFit/>
          </a:bodyPr>
          <a:lstStyle/>
          <a:p>
            <a:pPr algn="l"/>
            <a:r>
              <a:rPr sz="1600" b="0" i="0">
                <a:solidFill>
                  <a:srgbClr val="1F2A37"/>
                </a:solidFill>
              </a:rPr>
              <a:t>Performance table for 10 classifiers (accuracy, precision, recall, F1, AUC) and the model chosen for deployment</a:t>
            </a:r>
          </a:p>
        </p:txBody>
      </p:sp>
      <p:sp>
        <p:nvSpPr>
          <p:cNvPr id="8" name="Outcome card Working prediction app"/>
          <p:cNvSpPr/>
          <p:nvPr/>
        </p:nvSpPr>
        <p:spPr>
          <a:xfrm>
            <a:off x="4283964" y="1325880"/>
            <a:ext cx="3621024" cy="2697480"/>
          </a:xfrm>
          <a:prstGeom prst="roundRect">
            <a:avLst>
              <a:gd name="adj" fmla="val 7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Icon circle app"/>
          <p:cNvSpPr/>
          <p:nvPr/>
        </p:nvSpPr>
        <p:spPr>
          <a:xfrm>
            <a:off x="4512564" y="1554480"/>
            <a:ext cx="640080" cy="64008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Icon app" descr="app.png"/>
          <p:cNvPicPr>
            <a:picLocks noChangeAspect="1"/>
          </p:cNvPicPr>
          <p:nvPr/>
        </p:nvPicPr>
        <p:blipFill>
          <a:blip r:embed="rId3"/>
          <a:stretch>
            <a:fillRect/>
          </a:stretch>
        </p:blipFill>
        <p:spPr>
          <a:xfrm>
            <a:off x="4672584" y="1714500"/>
            <a:ext cx="320040" cy="320040"/>
          </a:xfrm>
          <a:prstGeom prst="rect">
            <a:avLst/>
          </a:prstGeom>
        </p:spPr>
      </p:pic>
      <p:sp>
        <p:nvSpPr>
          <p:cNvPr id="11" name="TextBox 10"/>
          <p:cNvSpPr txBox="1"/>
          <p:nvPr/>
        </p:nvSpPr>
        <p:spPr>
          <a:xfrm>
            <a:off x="5289804" y="1554480"/>
            <a:ext cx="2432304" cy="640080"/>
          </a:xfrm>
          <a:prstGeom prst="rect">
            <a:avLst/>
          </a:prstGeom>
          <a:noFill/>
        </p:spPr>
        <p:txBody>
          <a:bodyPr wrap="square" lIns="0" tIns="0" rIns="0" bIns="0" anchor="ctr">
            <a:spAutoFit/>
          </a:bodyPr>
          <a:lstStyle/>
          <a:p>
            <a:pPr algn="l"/>
            <a:r>
              <a:rPr sz="1800" b="1" i="0">
                <a:solidFill>
                  <a:srgbClr val="0E2841"/>
                </a:solidFill>
              </a:rPr>
              <a:t>Working prediction app</a:t>
            </a:r>
          </a:p>
        </p:txBody>
      </p:sp>
      <p:sp>
        <p:nvSpPr>
          <p:cNvPr id="12" name="TextBox 11"/>
          <p:cNvSpPr txBox="1"/>
          <p:nvPr/>
        </p:nvSpPr>
        <p:spPr>
          <a:xfrm>
            <a:off x="4512564" y="2423160"/>
            <a:ext cx="3163824" cy="1554480"/>
          </a:xfrm>
          <a:prstGeom prst="rect">
            <a:avLst/>
          </a:prstGeom>
          <a:noFill/>
        </p:spPr>
        <p:txBody>
          <a:bodyPr wrap="square" lIns="0" tIns="0" rIns="0" bIns="0" anchor="t">
            <a:spAutoFit/>
          </a:bodyPr>
          <a:lstStyle/>
          <a:p>
            <a:pPr algn="l"/>
            <a:r>
              <a:rPr sz="1600" b="0" i="0">
                <a:solidFill>
                  <a:srgbClr val="1F2A37"/>
                </a:solidFill>
              </a:rPr>
              <a:t>Web and Android app that gives an instant diabetes or no-diabetes result from 8 user-entered features</a:t>
            </a:r>
          </a:p>
        </p:txBody>
      </p:sp>
      <p:sp>
        <p:nvSpPr>
          <p:cNvPr id="13" name="Outcome card Explainable predictions"/>
          <p:cNvSpPr/>
          <p:nvPr/>
        </p:nvSpPr>
        <p:spPr>
          <a:xfrm>
            <a:off x="8129016" y="1325880"/>
            <a:ext cx="3621024" cy="2697480"/>
          </a:xfrm>
          <a:prstGeom prst="roundRect">
            <a:avLst>
              <a:gd name="adj" fmla="val 7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Icon circle xai"/>
          <p:cNvSpPr/>
          <p:nvPr/>
        </p:nvSpPr>
        <p:spPr>
          <a:xfrm>
            <a:off x="8357616" y="1554480"/>
            <a:ext cx="640080" cy="64008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Icon xai" descr="xai.png"/>
          <p:cNvPicPr>
            <a:picLocks noChangeAspect="1"/>
          </p:cNvPicPr>
          <p:nvPr/>
        </p:nvPicPr>
        <p:blipFill>
          <a:blip r:embed="rId4"/>
          <a:stretch>
            <a:fillRect/>
          </a:stretch>
        </p:blipFill>
        <p:spPr>
          <a:xfrm>
            <a:off x="8517636" y="1714500"/>
            <a:ext cx="320040" cy="320040"/>
          </a:xfrm>
          <a:prstGeom prst="rect">
            <a:avLst/>
          </a:prstGeom>
        </p:spPr>
      </p:pic>
      <p:sp>
        <p:nvSpPr>
          <p:cNvPr id="16" name="TextBox 15"/>
          <p:cNvSpPr txBox="1"/>
          <p:nvPr/>
        </p:nvSpPr>
        <p:spPr>
          <a:xfrm>
            <a:off x="9134856" y="1554480"/>
            <a:ext cx="2432304" cy="640080"/>
          </a:xfrm>
          <a:prstGeom prst="rect">
            <a:avLst/>
          </a:prstGeom>
          <a:noFill/>
        </p:spPr>
        <p:txBody>
          <a:bodyPr wrap="square" lIns="0" tIns="0" rIns="0" bIns="0" anchor="ctr">
            <a:spAutoFit/>
          </a:bodyPr>
          <a:lstStyle/>
          <a:p>
            <a:pPr algn="l"/>
            <a:r>
              <a:rPr sz="1800" b="1" i="0">
                <a:solidFill>
                  <a:srgbClr val="0E2841"/>
                </a:solidFill>
              </a:rPr>
              <a:t>Explainable predictions</a:t>
            </a:r>
          </a:p>
        </p:txBody>
      </p:sp>
      <p:sp>
        <p:nvSpPr>
          <p:cNvPr id="17" name="TextBox 16"/>
          <p:cNvSpPr txBox="1"/>
          <p:nvPr/>
        </p:nvSpPr>
        <p:spPr>
          <a:xfrm>
            <a:off x="8357616" y="2423160"/>
            <a:ext cx="3163824" cy="1554480"/>
          </a:xfrm>
          <a:prstGeom prst="rect">
            <a:avLst/>
          </a:prstGeom>
          <a:noFill/>
        </p:spPr>
        <p:txBody>
          <a:bodyPr wrap="square" lIns="0" tIns="0" rIns="0" bIns="0" anchor="t">
            <a:spAutoFit/>
          </a:bodyPr>
          <a:lstStyle/>
          <a:p>
            <a:pPr algn="l"/>
            <a:r>
              <a:rPr sz="1600" b="0" i="0">
                <a:solidFill>
                  <a:srgbClr val="1F2A37"/>
                </a:solidFill>
              </a:rPr>
              <a:t>SHAP plots showing how Glucose, BMI, Age and pedigree function influence each result</a:t>
            </a:r>
          </a:p>
        </p:txBody>
      </p:sp>
      <p:sp>
        <p:nvSpPr>
          <p:cNvPr id="18" name="Benchmark panel"/>
          <p:cNvSpPr/>
          <p:nvPr/>
        </p:nvSpPr>
        <p:spPr>
          <a:xfrm>
            <a:off x="438912" y="4297680"/>
            <a:ext cx="11311128" cy="1371600"/>
          </a:xfrm>
          <a:prstGeom prst="roundRect">
            <a:avLst>
              <a:gd name="adj" fmla="val 7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Benchmark label"/>
          <p:cNvSpPr txBox="1"/>
          <p:nvPr/>
        </p:nvSpPr>
        <p:spPr>
          <a:xfrm>
            <a:off x="685800" y="4480560"/>
            <a:ext cx="3566160" cy="1005840"/>
          </a:xfrm>
          <a:prstGeom prst="rect">
            <a:avLst/>
          </a:prstGeom>
          <a:noFill/>
        </p:spPr>
        <p:txBody>
          <a:bodyPr wrap="square" lIns="0" tIns="0" rIns="0" bIns="0" anchor="ctr">
            <a:spAutoFit/>
          </a:bodyPr>
          <a:lstStyle/>
          <a:p>
            <a:pPr algn="l">
              <a:spcAft>
                <a:spcPts val="200"/>
              </a:spcAft>
            </a:pPr>
            <a:r>
              <a:rPr sz="1800" b="1" i="0">
                <a:solidFill>
                  <a:srgbClr val="0E2841"/>
                </a:solidFill>
              </a:rPr>
              <a:t>Benchmark to match</a:t>
            </a:r>
          </a:p>
          <a:p>
            <a:pPr algn="l"/>
            <a:r>
              <a:rPr sz="1400" b="0" i="0">
                <a:solidFill>
                  <a:srgbClr val="1F2A37"/>
                </a:solidFill>
              </a:rPr>
              <a:t>Base paper, XGBoost with SMOTE, combined data</a:t>
            </a:r>
          </a:p>
        </p:txBody>
      </p:sp>
      <p:sp>
        <p:nvSpPr>
          <p:cNvPr id="20" name="Benchmark Accuracy"/>
          <p:cNvSpPr txBox="1"/>
          <p:nvPr/>
        </p:nvSpPr>
        <p:spPr>
          <a:xfrm>
            <a:off x="4754880" y="4434840"/>
            <a:ext cx="2194560" cy="1097280"/>
          </a:xfrm>
          <a:prstGeom prst="rect">
            <a:avLst/>
          </a:prstGeom>
          <a:noFill/>
        </p:spPr>
        <p:txBody>
          <a:bodyPr wrap="square" lIns="0" tIns="0" rIns="0" bIns="0" anchor="ctr">
            <a:spAutoFit/>
          </a:bodyPr>
          <a:lstStyle/>
          <a:p>
            <a:pPr algn="l">
              <a:spcAft>
                <a:spcPts val="0"/>
              </a:spcAft>
            </a:pPr>
            <a:r>
              <a:rPr sz="3600" b="1" i="0">
                <a:solidFill>
                  <a:srgbClr val="C8511A"/>
                </a:solidFill>
              </a:rPr>
              <a:t>83.1%</a:t>
            </a:r>
          </a:p>
          <a:p>
            <a:pPr algn="l"/>
            <a:r>
              <a:rPr sz="1400" b="0" i="0">
                <a:solidFill>
                  <a:srgbClr val="1F2A37"/>
                </a:solidFill>
              </a:rPr>
              <a:t>Accuracy</a:t>
            </a:r>
          </a:p>
        </p:txBody>
      </p:sp>
      <p:sp>
        <p:nvSpPr>
          <p:cNvPr id="21" name="Benchmark F1 score"/>
          <p:cNvSpPr txBox="1"/>
          <p:nvPr/>
        </p:nvSpPr>
        <p:spPr>
          <a:xfrm>
            <a:off x="7223760" y="4434840"/>
            <a:ext cx="2194560" cy="1097280"/>
          </a:xfrm>
          <a:prstGeom prst="rect">
            <a:avLst/>
          </a:prstGeom>
          <a:noFill/>
        </p:spPr>
        <p:txBody>
          <a:bodyPr wrap="square" lIns="0" tIns="0" rIns="0" bIns="0" anchor="ctr">
            <a:spAutoFit/>
          </a:bodyPr>
          <a:lstStyle/>
          <a:p>
            <a:pPr algn="l">
              <a:spcAft>
                <a:spcPts val="0"/>
              </a:spcAft>
            </a:pPr>
            <a:r>
              <a:rPr sz="3600" b="1" i="0">
                <a:solidFill>
                  <a:srgbClr val="C8511A"/>
                </a:solidFill>
              </a:rPr>
              <a:t>0.76</a:t>
            </a:r>
          </a:p>
          <a:p>
            <a:pPr algn="l"/>
            <a:r>
              <a:rPr sz="1400" b="0" i="0">
                <a:solidFill>
                  <a:srgbClr val="1F2A37"/>
                </a:solidFill>
              </a:rPr>
              <a:t>F1 score</a:t>
            </a:r>
          </a:p>
        </p:txBody>
      </p:sp>
      <p:sp>
        <p:nvSpPr>
          <p:cNvPr id="22" name="Benchmark AUC"/>
          <p:cNvSpPr txBox="1"/>
          <p:nvPr/>
        </p:nvSpPr>
        <p:spPr>
          <a:xfrm>
            <a:off x="9692640" y="4434840"/>
            <a:ext cx="2194560" cy="1097280"/>
          </a:xfrm>
          <a:prstGeom prst="rect">
            <a:avLst/>
          </a:prstGeom>
          <a:noFill/>
        </p:spPr>
        <p:txBody>
          <a:bodyPr wrap="square" lIns="0" tIns="0" rIns="0" bIns="0" anchor="ctr">
            <a:spAutoFit/>
          </a:bodyPr>
          <a:lstStyle/>
          <a:p>
            <a:pPr algn="l">
              <a:spcAft>
                <a:spcPts val="0"/>
              </a:spcAft>
            </a:pPr>
            <a:r>
              <a:rPr sz="3600" b="1" i="0">
                <a:solidFill>
                  <a:srgbClr val="C8511A"/>
                </a:solidFill>
              </a:rPr>
              <a:t>0.85</a:t>
            </a:r>
          </a:p>
          <a:p>
            <a:pPr algn="l"/>
            <a:r>
              <a:rPr sz="1400" b="0" i="0">
                <a:solidFill>
                  <a:srgbClr val="1F2A37"/>
                </a:solidFill>
              </a:rPr>
              <a:t>AUC</a:t>
            </a:r>
          </a:p>
        </p:txBody>
      </p:sp>
    </p:spTree>
    <p:extLst>
      <p:ext uri="{BB962C8B-B14F-4D97-AF65-F5344CB8AC3E}">
        <p14:creationId xmlns:p14="http://schemas.microsoft.com/office/powerpoint/2010/main" val="990176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6441D-4ED7-7099-698C-AD16D200AB81}"/>
              </a:ext>
            </a:extLst>
          </p:cNvPr>
          <p:cNvSpPr>
            <a:spLocks noGrp="1"/>
          </p:cNvSpPr>
          <p:nvPr>
            <p:ph type="title"/>
          </p:nvPr>
        </p:nvSpPr>
        <p:spPr/>
        <p:txBody>
          <a:bodyPr/>
          <a:lstStyle/>
          <a:p>
            <a:r>
              <a:rPr lang="en-US" dirty="0"/>
              <a:t>Current Progress</a:t>
            </a:r>
            <a:endParaRPr lang="en-IN" dirty="0"/>
          </a:p>
        </p:txBody>
      </p:sp>
      <p:sp>
        <p:nvSpPr>
          <p:cNvPr id="3" name="Completed in Phase 1 panel"/>
          <p:cNvSpPr/>
          <p:nvPr/>
        </p:nvSpPr>
        <p:spPr>
          <a:xfrm>
            <a:off x="438912" y="1280160"/>
            <a:ext cx="5532120" cy="4343400"/>
          </a:xfrm>
          <a:prstGeom prst="roundRect">
            <a:avLst>
              <a:gd name="adj" fmla="val 7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Completed in Phase 1 heading"/>
          <p:cNvSpPr txBox="1"/>
          <p:nvPr/>
        </p:nvSpPr>
        <p:spPr>
          <a:xfrm>
            <a:off x="713232" y="1463040"/>
            <a:ext cx="4983480" cy="457200"/>
          </a:xfrm>
          <a:prstGeom prst="rect">
            <a:avLst/>
          </a:prstGeom>
          <a:noFill/>
        </p:spPr>
        <p:txBody>
          <a:bodyPr wrap="square" lIns="0" tIns="0" rIns="0" bIns="0" anchor="t">
            <a:spAutoFit/>
          </a:bodyPr>
          <a:lstStyle/>
          <a:p>
            <a:pPr algn="l"/>
            <a:r>
              <a:rPr sz="2000" b="1" i="0">
                <a:solidFill>
                  <a:srgbClr val="156082"/>
                </a:solidFill>
              </a:rPr>
              <a:t>Completed in Phase 1</a:t>
            </a:r>
          </a:p>
        </p:txBody>
      </p:sp>
      <p:sp>
        <p:nvSpPr>
          <p:cNvPr id="5" name="Icon circle check"/>
          <p:cNvSpPr/>
          <p:nvPr/>
        </p:nvSpPr>
        <p:spPr>
          <a:xfrm>
            <a:off x="713232" y="2194560"/>
            <a:ext cx="502920" cy="50292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Icon check" descr="check.png"/>
          <p:cNvPicPr>
            <a:picLocks noChangeAspect="1"/>
          </p:cNvPicPr>
          <p:nvPr/>
        </p:nvPicPr>
        <p:blipFill>
          <a:blip r:embed="rId2"/>
          <a:stretch>
            <a:fillRect/>
          </a:stretch>
        </p:blipFill>
        <p:spPr>
          <a:xfrm>
            <a:off x="838962" y="2320290"/>
            <a:ext cx="251460" cy="251460"/>
          </a:xfrm>
          <a:prstGeom prst="rect">
            <a:avLst/>
          </a:prstGeom>
        </p:spPr>
      </p:pic>
      <p:sp>
        <p:nvSpPr>
          <p:cNvPr id="7" name="Completed in Phase 1 item 1"/>
          <p:cNvSpPr txBox="1"/>
          <p:nvPr/>
        </p:nvSpPr>
        <p:spPr>
          <a:xfrm>
            <a:off x="1444752" y="2148840"/>
            <a:ext cx="4251960" cy="594360"/>
          </a:xfrm>
          <a:prstGeom prst="rect">
            <a:avLst/>
          </a:prstGeom>
          <a:noFill/>
        </p:spPr>
        <p:txBody>
          <a:bodyPr wrap="square" lIns="0" tIns="0" rIns="0" bIns="0" anchor="ctr">
            <a:spAutoFit/>
          </a:bodyPr>
          <a:lstStyle/>
          <a:p>
            <a:pPr algn="l"/>
            <a:r>
              <a:rPr sz="1600" b="0" i="0">
                <a:solidFill>
                  <a:srgbClr val="1F2A37"/>
                </a:solidFill>
              </a:rPr>
              <a:t>Base paper selected and studied</a:t>
            </a:r>
          </a:p>
        </p:txBody>
      </p:sp>
      <p:sp>
        <p:nvSpPr>
          <p:cNvPr id="8" name="Icon circle check"/>
          <p:cNvSpPr/>
          <p:nvPr/>
        </p:nvSpPr>
        <p:spPr>
          <a:xfrm>
            <a:off x="713232" y="3017520"/>
            <a:ext cx="502920" cy="50292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Icon check" descr="check.png"/>
          <p:cNvPicPr>
            <a:picLocks noChangeAspect="1"/>
          </p:cNvPicPr>
          <p:nvPr/>
        </p:nvPicPr>
        <p:blipFill>
          <a:blip r:embed="rId2"/>
          <a:stretch>
            <a:fillRect/>
          </a:stretch>
        </p:blipFill>
        <p:spPr>
          <a:xfrm>
            <a:off x="838962" y="3143250"/>
            <a:ext cx="251460" cy="251460"/>
          </a:xfrm>
          <a:prstGeom prst="rect">
            <a:avLst/>
          </a:prstGeom>
        </p:spPr>
      </p:pic>
      <p:sp>
        <p:nvSpPr>
          <p:cNvPr id="10" name="Completed in Phase 1 item 2"/>
          <p:cNvSpPr txBox="1"/>
          <p:nvPr/>
        </p:nvSpPr>
        <p:spPr>
          <a:xfrm>
            <a:off x="1444752" y="2971800"/>
            <a:ext cx="4251960" cy="594360"/>
          </a:xfrm>
          <a:prstGeom prst="rect">
            <a:avLst/>
          </a:prstGeom>
          <a:noFill/>
        </p:spPr>
        <p:txBody>
          <a:bodyPr wrap="square" lIns="0" tIns="0" rIns="0" bIns="0" anchor="ctr">
            <a:spAutoFit/>
          </a:bodyPr>
          <a:lstStyle/>
          <a:p>
            <a:pPr algn="l"/>
            <a:r>
              <a:rPr sz="1600" b="0" i="0">
                <a:solidFill>
                  <a:srgbClr val="1F2A37"/>
                </a:solidFill>
              </a:rPr>
              <a:t>Literature gaps and problem statement defined</a:t>
            </a:r>
          </a:p>
        </p:txBody>
      </p:sp>
      <p:sp>
        <p:nvSpPr>
          <p:cNvPr id="11" name="Icon circle check"/>
          <p:cNvSpPr/>
          <p:nvPr/>
        </p:nvSpPr>
        <p:spPr>
          <a:xfrm>
            <a:off x="713232" y="3840480"/>
            <a:ext cx="502920" cy="50292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con check" descr="check.png"/>
          <p:cNvPicPr>
            <a:picLocks noChangeAspect="1"/>
          </p:cNvPicPr>
          <p:nvPr/>
        </p:nvPicPr>
        <p:blipFill>
          <a:blip r:embed="rId2"/>
          <a:stretch>
            <a:fillRect/>
          </a:stretch>
        </p:blipFill>
        <p:spPr>
          <a:xfrm>
            <a:off x="838962" y="3966210"/>
            <a:ext cx="251460" cy="251460"/>
          </a:xfrm>
          <a:prstGeom prst="rect">
            <a:avLst/>
          </a:prstGeom>
        </p:spPr>
      </p:pic>
      <p:sp>
        <p:nvSpPr>
          <p:cNvPr id="13" name="Completed in Phase 1 item 3"/>
          <p:cNvSpPr txBox="1"/>
          <p:nvPr/>
        </p:nvSpPr>
        <p:spPr>
          <a:xfrm>
            <a:off x="1444752" y="3794760"/>
            <a:ext cx="4251960" cy="594360"/>
          </a:xfrm>
          <a:prstGeom prst="rect">
            <a:avLst/>
          </a:prstGeom>
          <a:noFill/>
        </p:spPr>
        <p:txBody>
          <a:bodyPr wrap="square" lIns="0" tIns="0" rIns="0" bIns="0" anchor="ctr">
            <a:spAutoFit/>
          </a:bodyPr>
          <a:lstStyle/>
          <a:p>
            <a:pPr algn="l"/>
            <a:r>
              <a:rPr sz="1600" b="0" i="0">
                <a:solidFill>
                  <a:srgbClr val="1F2A37"/>
                </a:solidFill>
              </a:rPr>
              <a:t>Objectives, data set and methods finalised</a:t>
            </a:r>
          </a:p>
        </p:txBody>
      </p:sp>
      <p:sp>
        <p:nvSpPr>
          <p:cNvPr id="14" name="Icon circle check"/>
          <p:cNvSpPr/>
          <p:nvPr/>
        </p:nvSpPr>
        <p:spPr>
          <a:xfrm>
            <a:off x="713232" y="4663440"/>
            <a:ext cx="502920" cy="50292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Icon check" descr="check.png"/>
          <p:cNvPicPr>
            <a:picLocks noChangeAspect="1"/>
          </p:cNvPicPr>
          <p:nvPr/>
        </p:nvPicPr>
        <p:blipFill>
          <a:blip r:embed="rId2"/>
          <a:stretch>
            <a:fillRect/>
          </a:stretch>
        </p:blipFill>
        <p:spPr>
          <a:xfrm>
            <a:off x="838962" y="4789170"/>
            <a:ext cx="251460" cy="251460"/>
          </a:xfrm>
          <a:prstGeom prst="rect">
            <a:avLst/>
          </a:prstGeom>
        </p:spPr>
      </p:pic>
      <p:sp>
        <p:nvSpPr>
          <p:cNvPr id="16" name="Completed in Phase 1 item 4"/>
          <p:cNvSpPr txBox="1"/>
          <p:nvPr/>
        </p:nvSpPr>
        <p:spPr>
          <a:xfrm>
            <a:off x="1444752" y="4617720"/>
            <a:ext cx="4251960" cy="594360"/>
          </a:xfrm>
          <a:prstGeom prst="rect">
            <a:avLst/>
          </a:prstGeom>
          <a:noFill/>
        </p:spPr>
        <p:txBody>
          <a:bodyPr wrap="square" lIns="0" tIns="0" rIns="0" bIns="0" anchor="ctr">
            <a:spAutoFit/>
          </a:bodyPr>
          <a:lstStyle/>
          <a:p>
            <a:pPr algn="l"/>
            <a:r>
              <a:rPr sz="1600" b="0" i="0">
                <a:solidFill>
                  <a:srgbClr val="1F2A37"/>
                </a:solidFill>
              </a:rPr>
              <a:t>Architecture and technology stack designed</a:t>
            </a:r>
          </a:p>
        </p:txBody>
      </p:sp>
      <p:sp>
        <p:nvSpPr>
          <p:cNvPr id="17" name="Next steps (Phase 2) panel"/>
          <p:cNvSpPr/>
          <p:nvPr/>
        </p:nvSpPr>
        <p:spPr>
          <a:xfrm>
            <a:off x="6217920" y="1280160"/>
            <a:ext cx="5532120" cy="4343400"/>
          </a:xfrm>
          <a:prstGeom prst="roundRect">
            <a:avLst>
              <a:gd name="adj" fmla="val 7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Next steps (Phase 2) heading"/>
          <p:cNvSpPr txBox="1"/>
          <p:nvPr/>
        </p:nvSpPr>
        <p:spPr>
          <a:xfrm>
            <a:off x="6492240" y="1463040"/>
            <a:ext cx="4983480" cy="457200"/>
          </a:xfrm>
          <a:prstGeom prst="rect">
            <a:avLst/>
          </a:prstGeom>
          <a:noFill/>
        </p:spPr>
        <p:txBody>
          <a:bodyPr wrap="square" lIns="0" tIns="0" rIns="0" bIns="0" anchor="t">
            <a:spAutoFit/>
          </a:bodyPr>
          <a:lstStyle/>
          <a:p>
            <a:pPr algn="l"/>
            <a:r>
              <a:rPr sz="2000" b="1" i="0">
                <a:solidFill>
                  <a:srgbClr val="C8511A"/>
                </a:solidFill>
              </a:rPr>
              <a:t>Next steps (Phase 2)</a:t>
            </a:r>
          </a:p>
        </p:txBody>
      </p:sp>
      <p:sp>
        <p:nvSpPr>
          <p:cNvPr id="19" name="Oval 18"/>
          <p:cNvSpPr/>
          <p:nvPr/>
        </p:nvSpPr>
        <p:spPr>
          <a:xfrm>
            <a:off x="6492240" y="2194560"/>
            <a:ext cx="502920" cy="502920"/>
          </a:xfrm>
          <a:prstGeom prst="ellipse">
            <a:avLst/>
          </a:prstGeom>
          <a:solidFill>
            <a:srgbClr val="FFFFFF"/>
          </a:solidFill>
          <a:ln w="25400">
            <a:solidFill>
              <a:srgbClr val="C851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i="0">
                <a:solidFill>
                  <a:srgbClr val="0E2841"/>
                </a:solidFill>
              </a:rPr>
              <a:t>1</a:t>
            </a:r>
          </a:p>
        </p:txBody>
      </p:sp>
      <p:sp>
        <p:nvSpPr>
          <p:cNvPr id="20" name="Next steps (Phase 2) item 1"/>
          <p:cNvSpPr txBox="1"/>
          <p:nvPr/>
        </p:nvSpPr>
        <p:spPr>
          <a:xfrm>
            <a:off x="7223760" y="2148840"/>
            <a:ext cx="4251960" cy="594360"/>
          </a:xfrm>
          <a:prstGeom prst="rect">
            <a:avLst/>
          </a:prstGeom>
          <a:noFill/>
        </p:spPr>
        <p:txBody>
          <a:bodyPr wrap="square" lIns="0" tIns="0" rIns="0" bIns="0" anchor="ctr">
            <a:spAutoFit/>
          </a:bodyPr>
          <a:lstStyle/>
          <a:p>
            <a:pPr algn="l"/>
            <a:r>
              <a:rPr sz="1600" b="0" i="0">
                <a:solidFill>
                  <a:srgbClr val="1F2A37"/>
                </a:solidFill>
              </a:rPr>
              <a:t>Pre-process data and balance classes with SMOTE</a:t>
            </a:r>
          </a:p>
        </p:txBody>
      </p:sp>
      <p:sp>
        <p:nvSpPr>
          <p:cNvPr id="21" name="Oval 20"/>
          <p:cNvSpPr/>
          <p:nvPr/>
        </p:nvSpPr>
        <p:spPr>
          <a:xfrm>
            <a:off x="6492240" y="3017520"/>
            <a:ext cx="502920" cy="502920"/>
          </a:xfrm>
          <a:prstGeom prst="ellipse">
            <a:avLst/>
          </a:prstGeom>
          <a:solidFill>
            <a:srgbClr val="FFFFFF"/>
          </a:solidFill>
          <a:ln w="25400">
            <a:solidFill>
              <a:srgbClr val="C851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i="0">
                <a:solidFill>
                  <a:srgbClr val="0E2841"/>
                </a:solidFill>
              </a:rPr>
              <a:t>2</a:t>
            </a:r>
          </a:p>
        </p:txBody>
      </p:sp>
      <p:sp>
        <p:nvSpPr>
          <p:cNvPr id="22" name="Next steps (Phase 2) item 2"/>
          <p:cNvSpPr txBox="1"/>
          <p:nvPr/>
        </p:nvSpPr>
        <p:spPr>
          <a:xfrm>
            <a:off x="7223760" y="2971800"/>
            <a:ext cx="4251960" cy="594360"/>
          </a:xfrm>
          <a:prstGeom prst="rect">
            <a:avLst/>
          </a:prstGeom>
          <a:noFill/>
        </p:spPr>
        <p:txBody>
          <a:bodyPr wrap="square" lIns="0" tIns="0" rIns="0" bIns="0" anchor="ctr">
            <a:spAutoFit/>
          </a:bodyPr>
          <a:lstStyle/>
          <a:p>
            <a:pPr algn="l"/>
            <a:r>
              <a:rPr sz="1600" b="0" i="0">
                <a:solidFill>
                  <a:srgbClr val="1F2A37"/>
                </a:solidFill>
              </a:rPr>
              <a:t>Train and tune the 10 classifiers</a:t>
            </a:r>
          </a:p>
        </p:txBody>
      </p:sp>
      <p:sp>
        <p:nvSpPr>
          <p:cNvPr id="23" name="Oval 22"/>
          <p:cNvSpPr/>
          <p:nvPr/>
        </p:nvSpPr>
        <p:spPr>
          <a:xfrm>
            <a:off x="6492240" y="3840480"/>
            <a:ext cx="502920" cy="502920"/>
          </a:xfrm>
          <a:prstGeom prst="ellipse">
            <a:avLst/>
          </a:prstGeom>
          <a:solidFill>
            <a:srgbClr val="FFFFFF"/>
          </a:solidFill>
          <a:ln w="25400">
            <a:solidFill>
              <a:srgbClr val="C851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i="0">
                <a:solidFill>
                  <a:srgbClr val="0E2841"/>
                </a:solidFill>
              </a:rPr>
              <a:t>3</a:t>
            </a:r>
          </a:p>
        </p:txBody>
      </p:sp>
      <p:sp>
        <p:nvSpPr>
          <p:cNvPr id="24" name="Next steps (Phase 2) item 3"/>
          <p:cNvSpPr txBox="1"/>
          <p:nvPr/>
        </p:nvSpPr>
        <p:spPr>
          <a:xfrm>
            <a:off x="7223760" y="3794760"/>
            <a:ext cx="4251960" cy="594360"/>
          </a:xfrm>
          <a:prstGeom prst="rect">
            <a:avLst/>
          </a:prstGeom>
          <a:noFill/>
        </p:spPr>
        <p:txBody>
          <a:bodyPr wrap="square" lIns="0" tIns="0" rIns="0" bIns="0" anchor="ctr">
            <a:spAutoFit/>
          </a:bodyPr>
          <a:lstStyle/>
          <a:p>
            <a:pPr algn="l"/>
            <a:r>
              <a:rPr sz="1600" b="0" i="0">
                <a:solidFill>
                  <a:srgbClr val="1F2A37"/>
                </a:solidFill>
              </a:rPr>
              <a:t>Build web / Android app and REST API</a:t>
            </a:r>
          </a:p>
        </p:txBody>
      </p:sp>
      <p:sp>
        <p:nvSpPr>
          <p:cNvPr id="25" name="Oval 24"/>
          <p:cNvSpPr/>
          <p:nvPr/>
        </p:nvSpPr>
        <p:spPr>
          <a:xfrm>
            <a:off x="6492240" y="4663440"/>
            <a:ext cx="502920" cy="502920"/>
          </a:xfrm>
          <a:prstGeom prst="ellipse">
            <a:avLst/>
          </a:prstGeom>
          <a:solidFill>
            <a:srgbClr val="FFFFFF"/>
          </a:solidFill>
          <a:ln w="25400">
            <a:solidFill>
              <a:srgbClr val="C851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i="0">
                <a:solidFill>
                  <a:srgbClr val="0E2841"/>
                </a:solidFill>
              </a:rPr>
              <a:t>4</a:t>
            </a:r>
          </a:p>
        </p:txBody>
      </p:sp>
      <p:sp>
        <p:nvSpPr>
          <p:cNvPr id="26" name="Next steps (Phase 2) item 4"/>
          <p:cNvSpPr txBox="1"/>
          <p:nvPr/>
        </p:nvSpPr>
        <p:spPr>
          <a:xfrm>
            <a:off x="7223760" y="4617720"/>
            <a:ext cx="4251960" cy="594360"/>
          </a:xfrm>
          <a:prstGeom prst="rect">
            <a:avLst/>
          </a:prstGeom>
          <a:noFill/>
        </p:spPr>
        <p:txBody>
          <a:bodyPr wrap="square" lIns="0" tIns="0" rIns="0" bIns="0" anchor="ctr">
            <a:spAutoFit/>
          </a:bodyPr>
          <a:lstStyle/>
          <a:p>
            <a:pPr algn="l"/>
            <a:r>
              <a:rPr sz="1600" b="0" i="0">
                <a:solidFill>
                  <a:srgbClr val="1F2A37"/>
                </a:solidFill>
              </a:rPr>
              <a:t>Add SHAP explanations and test the app</a:t>
            </a:r>
          </a:p>
        </p:txBody>
      </p:sp>
    </p:spTree>
    <p:extLst>
      <p:ext uri="{BB962C8B-B14F-4D97-AF65-F5344CB8AC3E}">
        <p14:creationId xmlns:p14="http://schemas.microsoft.com/office/powerpoint/2010/main" val="3835818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28808-708B-1F84-A832-60E5B6B7B35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36E10C1-DB65-56E3-4F0F-03211818396F}"/>
              </a:ext>
            </a:extLst>
          </p:cNvPr>
          <p:cNvSpPr>
            <a:spLocks noGrp="1"/>
          </p:cNvSpPr>
          <p:nvPr>
            <p:ph type="title"/>
          </p:nvPr>
        </p:nvSpPr>
        <p:spPr/>
        <p:txBody>
          <a:bodyPr/>
          <a:lstStyle/>
          <a:p>
            <a:r>
              <a:rPr lang="en-US" dirty="0"/>
              <a:t>References</a:t>
            </a:r>
            <a:endParaRPr lang="en-IN" dirty="0"/>
          </a:p>
        </p:txBody>
      </p:sp>
      <p:sp>
        <p:nvSpPr>
          <p:cNvPr id="5" name="Content Placeholder 4">
            <a:extLst>
              <a:ext uri="{FF2B5EF4-FFF2-40B4-BE49-F238E27FC236}">
                <a16:creationId xmlns:a16="http://schemas.microsoft.com/office/drawing/2014/main" id="{17332BB4-B4E0-028D-87D1-15E301F6F564}"/>
              </a:ext>
            </a:extLst>
          </p:cNvPr>
          <p:cNvSpPr>
            <a:spLocks noGrp="1"/>
          </p:cNvSpPr>
          <p:nvPr>
            <p:ph sz="quarter" idx="13"/>
          </p:nvPr>
        </p:nvSpPr>
        <p:spPr/>
        <p:txBody>
          <a:bodyPr/>
          <a:lstStyle/>
          <a:p>
            <a:pPr marL="411480" indent="-411480">
              <a:spcAft>
                <a:spcPts val="800"/>
              </a:spcAft>
              <a:buFont typeface="+mj-lt"/>
              <a:buAutoNum type="arabicPeriod"/>
            </a:pPr>
            <a:r>
              <a:rPr sz="1400">
                <a:solidFill>
                  <a:srgbClr val="1F2A37"/>
                </a:solidFill>
              </a:rPr>
              <a:t>H. El-Sofany, S. A. El-Seoud, O. H. Karam, Y. M. Abd El-Latif, and I. A. T. F. Taj-Eddin, “A proposed technique using machine learning for the prediction of diabetes disease through a mobile app,” Int. J. Intelligent Systems, vol. 2024, Art. ID 6688934, 2024. doi:10.1155/2024/6688934</a:t>
            </a:r>
            <a:endParaRPr lang="en-IN" dirty="0"/>
          </a:p>
          <a:p>
            <a:pPr marL="411480" indent="-411480">
              <a:spcAft>
                <a:spcPts val="800"/>
              </a:spcAft>
              <a:buFont typeface="+mj-lt"/>
              <a:buAutoNum type="arabicPeriod"/>
            </a:pPr>
            <a:r>
              <a:rPr sz="1400">
                <a:solidFill>
                  <a:srgbClr val="1F2A37"/>
                </a:solidFill>
              </a:rPr>
              <a:t>IDF Diabetes Atlas, 10th ed., International Diabetes Federation, Brussels, Belgium, 2021.</a:t>
            </a:r>
          </a:p>
          <a:p>
            <a:pPr marL="411480" indent="-411480">
              <a:spcAft>
                <a:spcPts val="800"/>
              </a:spcAft>
              <a:buFont typeface="+mj-lt"/>
              <a:buAutoNum type="arabicPeriod"/>
            </a:pPr>
            <a:r>
              <a:rPr sz="1400">
                <a:solidFill>
                  <a:srgbClr val="1F2A37"/>
                </a:solidFill>
              </a:rPr>
              <a:t>M. K. Hasan, M. A. Alam, D. Das, E. Hossain, and M. Hasan, “Diabetes prediction using ensembling of different machine learning classifiers,” IEEE Access, vol. 8, pp. 76516–76531, 2020.</a:t>
            </a:r>
          </a:p>
          <a:p>
            <a:pPr marL="411480" indent="-411480">
              <a:spcAft>
                <a:spcPts val="800"/>
              </a:spcAft>
              <a:buFont typeface="+mj-lt"/>
              <a:buAutoNum type="arabicPeriod"/>
            </a:pPr>
            <a:r>
              <a:rPr sz="1400">
                <a:solidFill>
                  <a:srgbClr val="1F2A37"/>
                </a:solidFill>
              </a:rPr>
              <a:t>J. J. Khanam and S. Y. Foo, “A comparison of machine learning algorithms for diabetes prediction,” ICT Express, vol. 7, no. 4, pp. 432–439, 2021.</a:t>
            </a:r>
          </a:p>
          <a:p>
            <a:pPr marL="411480" indent="-411480">
              <a:spcAft>
                <a:spcPts val="800"/>
              </a:spcAft>
              <a:buFont typeface="+mj-lt"/>
              <a:buAutoNum type="arabicPeriod"/>
            </a:pPr>
            <a:r>
              <a:rPr sz="1400">
                <a:solidFill>
                  <a:srgbClr val="1F2A37"/>
                </a:solidFill>
              </a:rPr>
              <a:t>L. Kopitar, P. Kocbek, L. Cilar, A. Sheikh, and G. Stiglic, “Early detection of type 2 diabetes mellitus using machine learning-based prediction models,” Scientific Reports, vol. 10, Art. ID 11981, 2020.</a:t>
            </a:r>
          </a:p>
          <a:p>
            <a:pPr marL="411480" indent="-411480">
              <a:spcAft>
                <a:spcPts val="800"/>
              </a:spcAft>
              <a:buFont typeface="+mj-lt"/>
              <a:buAutoNum type="arabicPeriod"/>
            </a:pPr>
            <a:r>
              <a:rPr sz="1400">
                <a:solidFill>
                  <a:srgbClr val="1F2A37"/>
                </a:solidFill>
              </a:rPr>
              <a:t>I. Tasin, T. U. Nabil, S. Islam, and R. Khan, “Diabetes prediction using machine learning and explainable AI techniques,” Healthcare Technology Letters, vol. 10, pp. 1–10, 2023.</a:t>
            </a:r>
          </a:p>
        </p:txBody>
      </p:sp>
    </p:spTree>
    <p:extLst>
      <p:ext uri="{BB962C8B-B14F-4D97-AF65-F5344CB8AC3E}">
        <p14:creationId xmlns:p14="http://schemas.microsoft.com/office/powerpoint/2010/main" val="13695024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ACBB81-26A3-82E8-1ECB-59DC2EDC0EFD}"/>
              </a:ext>
            </a:extLst>
          </p:cNvPr>
          <p:cNvSpPr>
            <a:spLocks noGrp="1"/>
          </p:cNvSpPr>
          <p:nvPr>
            <p:ph type="title"/>
          </p:nvPr>
        </p:nvSpPr>
        <p:spPr/>
        <p:txBody>
          <a:bodyPr/>
          <a:lstStyle/>
          <a:p>
            <a:r>
              <a:rPr lang="en-US" dirty="0"/>
              <a:t>Thank you</a:t>
            </a:r>
            <a:endParaRPr lang="en-IN" dirty="0"/>
          </a:p>
        </p:txBody>
      </p:sp>
    </p:spTree>
    <p:extLst>
      <p:ext uri="{BB962C8B-B14F-4D97-AF65-F5344CB8AC3E}">
        <p14:creationId xmlns:p14="http://schemas.microsoft.com/office/powerpoint/2010/main" val="1781087192"/>
      </p:ext>
    </p:extLst>
  </p:cSld>
  <p:clrMapOvr>
    <a:masterClrMapping/>
  </p:clrMapOvr>
</p:sld>
</file>

<file path=ppt/theme/theme1.xml><?xml version="1.0" encoding="utf-8"?>
<a:theme xmlns:a="http://schemas.openxmlformats.org/drawingml/2006/main" name="MITVPU White and Blac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ITVPU White and Black" id="{8470EAC3-30F4-46F4-917E-C768DD2E3A26}" vid="{C7F10E71-451B-464A-81B7-0517B3D40D3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MITVPU White and Black</Template>
  <TotalTime>37</TotalTime>
  <Words>183</Words>
  <Application>Microsoft Office PowerPoint</Application>
  <PresentationFormat>Widescreen</PresentationFormat>
  <Paragraphs>44</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MITVPU White and Black</vt:lpstr>
      <vt:lpstr>Project Title: Machine Learning–Based Diabetes Prediction through a Mobile App</vt:lpstr>
      <vt:lpstr>Team Members</vt:lpstr>
      <vt:lpstr>Domain and Problem Statement</vt:lpstr>
      <vt:lpstr>Objectives</vt:lpstr>
      <vt:lpstr>Data set</vt:lpstr>
      <vt:lpstr>Methods</vt:lpstr>
      <vt:lpstr>Required skills for project</vt:lpstr>
      <vt:lpstr>Proposed Solution – Architecture</vt:lpstr>
      <vt:lpstr>Results of Base Paper</vt:lpstr>
      <vt:lpstr>Outcomes</vt:lpstr>
      <vt:lpstr>Current Progress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Preethi Baligar</dc:creator>
  <cp:lastModifiedBy>Preethi Baligar</cp:lastModifiedBy>
  <cp:revision>14</cp:revision>
  <dcterms:created xsi:type="dcterms:W3CDTF">2026-09-18T11:54:06Z</dcterms:created>
  <dcterms:modified xsi:type="dcterms:W3CDTF">2026-10-16T09:11:31Z</dcterms:modified>
</cp:coreProperties>
</file>